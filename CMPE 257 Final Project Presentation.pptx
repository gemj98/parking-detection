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57" r:id="rId4"/>
    <p:sldId id="261" r:id="rId5"/>
    <p:sldId id="262" r:id="rId6"/>
    <p:sldId id="263" r:id="rId7"/>
    <p:sldId id="264" r:id="rId8"/>
    <p:sldId id="266" r:id="rId9"/>
    <p:sldId id="268" r:id="rId10"/>
    <p:sldId id="265" r:id="rId11"/>
    <p:sldId id="269" r:id="rId12"/>
    <p:sldId id="270" r:id="rId13"/>
    <p:sldId id="271" r:id="rId14"/>
    <p:sldId id="258" r:id="rId15"/>
    <p:sldId id="25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F5BAE-CA82-21EE-D41E-40376C3E6F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F444F-4131-33FD-4D51-40B257D0EA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95271-F7AF-3A62-84E8-45326624E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BD341-4240-9549-8870-87D402A57A40}" type="datetimeFigureOut">
              <a:rPr lang="en-US" smtClean="0"/>
              <a:t>11/18/24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3D90D-521B-5A02-3F5A-F9CCE0372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D46CA-ADD8-6A95-A3D3-AD776545D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51A16-C23D-4841-81FC-0AC103E91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988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B331A-ED66-A6A7-6991-17A60BB32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C082B-F226-6D9A-8704-AD41927E2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1BC54-BD12-2B52-CA38-99744F9CB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BD341-4240-9549-8870-87D402A57A40}" type="datetimeFigureOut">
              <a:rPr lang="en-US" smtClean="0"/>
              <a:t>11/18/24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F2C0F-F51C-0A4E-5A4F-FA6307A83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26B56-4F5C-8708-4B35-CF1ED9A17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51A16-C23D-4841-81FC-0AC103E91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811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61D53-A374-551D-D0BB-B78F05DB3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A4B21-7A09-B5A2-0B2F-6FEDD6D1C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DF2C3-AE18-E79D-576E-8F05A4D39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BD341-4240-9549-8870-87D402A57A40}" type="datetimeFigureOut">
              <a:rPr lang="en-US" smtClean="0"/>
              <a:t>11/18/24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CC5A-81E4-603C-1B8D-DBD5783A1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28735-906D-07A5-4B03-E6AA8493F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51A16-C23D-4841-81FC-0AC103E91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667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4A3D9-C07E-41E9-1E82-902C3F80B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1C3B5-5295-6E6C-B467-57BEE3C8B4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A14468-7E28-917A-0942-AF4DE5C129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EA32C0-B303-96D2-2AEF-55C3B3672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BD341-4240-9549-8870-87D402A57A40}" type="datetimeFigureOut">
              <a:rPr lang="en-US" smtClean="0"/>
              <a:t>11/18/24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DD041A-E44D-BE65-E118-0A0B30513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8A4E1A-7D9C-4755-E9E2-0C9D56600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51A16-C23D-4841-81FC-0AC103E91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572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50248-6406-6EA2-B89D-AB07AB4CA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F7365F-6061-C7EB-EF37-4A6629312E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9D5593-9150-75F0-43AC-1EFB98591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F481E9-BF56-F67C-7445-BD60B37F2C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9D143C-9A7C-C2DD-356A-3240E7F94B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7A26A5-D56E-AC02-30D9-13708DD88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BD341-4240-9549-8870-87D402A57A40}" type="datetimeFigureOut">
              <a:rPr lang="en-US" smtClean="0"/>
              <a:t>11/18/24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B2D316-D8DB-46D0-AA18-F299A5A17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930C63-F3F5-C811-434E-0A2AA8C60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51A16-C23D-4841-81FC-0AC103E91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250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DAB33-C447-598B-1FE6-C37B14DE5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ED99B2-C54E-C3FD-01F0-C17BDB0C9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BD341-4240-9549-8870-87D402A57A40}" type="datetimeFigureOut">
              <a:rPr lang="en-US" smtClean="0"/>
              <a:t>11/18/24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EE8DA1-A338-81E7-F3F1-3624B2BD3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444AB4-377C-D3DF-0F92-D9DFB5F44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51A16-C23D-4841-81FC-0AC103E91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980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17FA87-6CF1-69CC-9E86-86F463679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BD341-4240-9549-8870-87D402A57A40}" type="datetimeFigureOut">
              <a:rPr lang="en-US" smtClean="0"/>
              <a:t>11/18/24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AC27B4-B5A2-6B3C-5CE2-6CEE34832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78F585-4FF3-2C7E-52D2-86203485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51A16-C23D-4841-81FC-0AC103E91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112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C729F-5CEF-A8B2-F992-8C5259253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C7C02-C43B-1D4C-BCDB-B4EBB5810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3F90AE-6161-81E0-D14A-9B7AB17A25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E9195-B4E2-0A39-7C70-125108306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BD341-4240-9549-8870-87D402A57A40}" type="datetimeFigureOut">
              <a:rPr lang="en-US" smtClean="0"/>
              <a:t>11/18/24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E37DEC-FCE8-D14B-A752-C5B00EA94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A0395D-0007-5286-227A-9DCB10374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51A16-C23D-4841-81FC-0AC103E91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574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4FDC9-6A6E-D7D9-92D3-7B62CD4D0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A1C45B-8084-3660-2FAB-D917936D67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5FC54B-D182-DA0F-576C-9BF59EF9D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03914D-7BD5-8F81-646C-5554BE8A2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BD341-4240-9549-8870-87D402A57A40}" type="datetimeFigureOut">
              <a:rPr lang="en-US" smtClean="0"/>
              <a:t>11/18/24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834BC9-B176-42AA-EE1D-3BF91A0BB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394C97-CBE7-9148-2032-F860E3688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51A16-C23D-4841-81FC-0AC103E91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680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E21BB-11E3-FC27-8F0C-6E919B867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D521CA-00A0-2180-95A8-D500985C67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32547-679A-5AA2-042A-3D562688E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BD341-4240-9549-8870-87D402A57A40}" type="datetimeFigureOut">
              <a:rPr lang="en-US" smtClean="0"/>
              <a:t>11/18/24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BD457-7EE2-779F-3C77-356B885A8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140BD-8A2B-C83D-1F0A-6E1D15F0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51A16-C23D-4841-81FC-0AC103E91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738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86E82F-EA7D-EB62-85FC-AF8D9CBD8E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461E4E-193D-62D3-5E36-430FF2B69F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C1658-3571-CF00-0FFE-15AF0988F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BD341-4240-9549-8870-87D402A57A40}" type="datetimeFigureOut">
              <a:rPr lang="en-US" smtClean="0"/>
              <a:t>11/18/24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E53C5-1866-F495-D024-E56D1196C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7FB19-D588-B709-A523-49A5DD39D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51A16-C23D-4841-81FC-0AC103E91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357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16EB28-2F4B-A083-AF68-3A958E48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2A329F-7D00-072A-5E95-058FAA89F3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F4BA8-1123-01E6-EA17-DBA2D6E3A4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5BD341-4240-9549-8870-87D402A57A40}" type="datetimeFigureOut">
              <a:rPr lang="en-US" smtClean="0"/>
              <a:t>11/18/24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FFDEA-ABDB-D0A8-5287-C1C1ED76B5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F7886-9F99-6CA9-3E8F-FC895C83D0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651A16-C23D-4841-81FC-0AC103E91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621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hyperlink" Target="https://www.usatoday.com/story/money/2017/07/12/parking-pain-causes-financial-and-personal-strain/467637001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0382A49D-ADD2-A04D-5A1A-1F0400F963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53" b="1179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F6874B3-0910-2894-5BEA-000761933B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947" y="-1"/>
            <a:ext cx="6586152" cy="2357183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solidFill>
                  <a:schemeClr val="accent1">
                    <a:lumMod val="75000"/>
                  </a:schemeClr>
                </a:solidFill>
                <a:latin typeface="Candara" panose="020E0502030303020204" pitchFamily="34" charset="0"/>
              </a:rPr>
              <a:t>Parking Space Detection and Classification using Machine Learning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BB10D6C-0307-68D1-9AAF-C77C809D65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0129" y="3406483"/>
            <a:ext cx="5859787" cy="1567713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andara" panose="020E0502030303020204" pitchFamily="34" charset="0"/>
              </a:rPr>
              <a:t>CMPE 257</a:t>
            </a:r>
          </a:p>
          <a:p>
            <a:pPr algn="l"/>
            <a:endParaRPr lang="en-US" b="1" dirty="0">
              <a:solidFill>
                <a:schemeClr val="accent1">
                  <a:lumMod val="75000"/>
                </a:schemeClr>
              </a:solidFill>
              <a:latin typeface="Candara" panose="020E0502030303020204" pitchFamily="34" charset="0"/>
            </a:endParaRPr>
          </a:p>
          <a:p>
            <a:pPr algn="l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andara" panose="020E0502030303020204" pitchFamily="34" charset="0"/>
              </a:rPr>
              <a:t>Final Presentation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7C711B3-0F5E-F59B-E5E0-E173CFCFCF1D}"/>
              </a:ext>
            </a:extLst>
          </p:cNvPr>
          <p:cNvSpPr txBox="1">
            <a:spLocks/>
          </p:cNvSpPr>
          <p:nvPr/>
        </p:nvSpPr>
        <p:spPr>
          <a:xfrm>
            <a:off x="420130" y="6023497"/>
            <a:ext cx="8588036" cy="5275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andara" panose="020E0502030303020204" pitchFamily="34" charset="0"/>
              </a:rPr>
              <a:t>Charmi   |   Gerardo   |   Sravani   |   Jeevan   |   Ambarish   |   Shreya</a:t>
            </a:r>
          </a:p>
        </p:txBody>
      </p:sp>
    </p:spTree>
    <p:extLst>
      <p:ext uri="{BB962C8B-B14F-4D97-AF65-F5344CB8AC3E}">
        <p14:creationId xmlns:p14="http://schemas.microsoft.com/office/powerpoint/2010/main" val="2623796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86177-5B5C-453B-BE2E-B5E23DAF8B0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3265967" cy="7725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andara" panose="020E0502030303020204" pitchFamily="34" charset="0"/>
              </a:rPr>
              <a:t>Project Idea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529F09-E67F-CD4A-F58B-69413C5565CD}"/>
              </a:ext>
            </a:extLst>
          </p:cNvPr>
          <p:cNvSpPr txBox="1"/>
          <p:nvPr/>
        </p:nvSpPr>
        <p:spPr>
          <a:xfrm>
            <a:off x="10195309" y="6535271"/>
            <a:ext cx="16257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*According to </a:t>
            </a:r>
            <a:r>
              <a:rPr lang="en-US" sz="1050" dirty="0">
                <a:hlinkClick r:id="rId2"/>
              </a:rPr>
              <a:t>USA Today</a:t>
            </a:r>
            <a:endParaRPr lang="en-US" sz="105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D6BC57E-7472-95AE-A083-E9743A0C8448}"/>
              </a:ext>
            </a:extLst>
          </p:cNvPr>
          <p:cNvSpPr/>
          <p:nvPr/>
        </p:nvSpPr>
        <p:spPr>
          <a:xfrm>
            <a:off x="3153639" y="1524878"/>
            <a:ext cx="5139756" cy="716691"/>
          </a:xfrm>
          <a:prstGeom prst="roundRect">
            <a:avLst>
              <a:gd name="adj" fmla="val 44253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ndara" panose="020E0502030303020204" pitchFamily="34" charset="0"/>
              </a:rPr>
              <a:t>Finding a parking spot is challenging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9D25D35-C2CA-B227-82D7-BE244C921484}"/>
              </a:ext>
            </a:extLst>
          </p:cNvPr>
          <p:cNvSpPr/>
          <p:nvPr/>
        </p:nvSpPr>
        <p:spPr>
          <a:xfrm>
            <a:off x="3161270" y="2652733"/>
            <a:ext cx="5139756" cy="716691"/>
          </a:xfrm>
          <a:prstGeom prst="roundRect">
            <a:avLst>
              <a:gd name="adj" fmla="val 44253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ndara" panose="020E0502030303020204" pitchFamily="34" charset="0"/>
              </a:rPr>
              <a:t>Loss of Time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9546EB5-2FF4-9343-8AED-3ED86207CB93}"/>
              </a:ext>
            </a:extLst>
          </p:cNvPr>
          <p:cNvSpPr/>
          <p:nvPr/>
        </p:nvSpPr>
        <p:spPr>
          <a:xfrm>
            <a:off x="3153639" y="3637717"/>
            <a:ext cx="5139756" cy="716691"/>
          </a:xfrm>
          <a:prstGeom prst="roundRect">
            <a:avLst>
              <a:gd name="adj" fmla="val 44253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ndara" panose="020E0502030303020204" pitchFamily="34" charset="0"/>
              </a:rPr>
              <a:t>Loss of Fuel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C341836-7A17-BA91-26C9-D63A8F5E8805}"/>
              </a:ext>
            </a:extLst>
          </p:cNvPr>
          <p:cNvSpPr/>
          <p:nvPr/>
        </p:nvSpPr>
        <p:spPr>
          <a:xfrm>
            <a:off x="3161270" y="4650641"/>
            <a:ext cx="5139756" cy="716691"/>
          </a:xfrm>
          <a:prstGeom prst="roundRect">
            <a:avLst>
              <a:gd name="adj" fmla="val 44253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ndara" panose="020E0502030303020204" pitchFamily="34" charset="0"/>
              </a:rPr>
              <a:t>Driver Frustration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6481207-A363-D71D-01AE-7830DB7FBA18}"/>
              </a:ext>
            </a:extLst>
          </p:cNvPr>
          <p:cNvSpPr/>
          <p:nvPr/>
        </p:nvSpPr>
        <p:spPr>
          <a:xfrm>
            <a:off x="3161270" y="5663565"/>
            <a:ext cx="5139756" cy="716691"/>
          </a:xfrm>
          <a:prstGeom prst="roundRect">
            <a:avLst>
              <a:gd name="adj" fmla="val 44253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ndara" panose="020E0502030303020204" pitchFamily="34" charset="0"/>
              </a:rPr>
              <a:t>Loss of Money </a:t>
            </a:r>
            <a:r>
              <a:rPr lang="en-US" sz="1200" dirty="0">
                <a:latin typeface="Candara" panose="020E0502030303020204" pitchFamily="34" charset="0"/>
              </a:rPr>
              <a:t>($345 on average*)</a:t>
            </a:r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2F4D9347-8B2E-F32B-82A6-123219B58A88}"/>
              </a:ext>
            </a:extLst>
          </p:cNvPr>
          <p:cNvSpPr/>
          <p:nvPr/>
        </p:nvSpPr>
        <p:spPr>
          <a:xfrm>
            <a:off x="1594884" y="1339702"/>
            <a:ext cx="1552353" cy="786810"/>
          </a:xfrm>
          <a:custGeom>
            <a:avLst/>
            <a:gdLst>
              <a:gd name="connsiteX0" fmla="*/ 0 w 1552353"/>
              <a:gd name="connsiteY0" fmla="*/ 0 h 786810"/>
              <a:gd name="connsiteX1" fmla="*/ 276446 w 1552353"/>
              <a:gd name="connsiteY1" fmla="*/ 584791 h 786810"/>
              <a:gd name="connsiteX2" fmla="*/ 786809 w 1552353"/>
              <a:gd name="connsiteY2" fmla="*/ 552893 h 786810"/>
              <a:gd name="connsiteX3" fmla="*/ 1190846 w 1552353"/>
              <a:gd name="connsiteY3" fmla="*/ 786810 h 786810"/>
              <a:gd name="connsiteX4" fmla="*/ 1552353 w 1552353"/>
              <a:gd name="connsiteY4" fmla="*/ 552893 h 786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2353" h="786810">
                <a:moveTo>
                  <a:pt x="0" y="0"/>
                </a:moveTo>
                <a:cubicBezTo>
                  <a:pt x="72655" y="246321"/>
                  <a:pt x="145311" y="492642"/>
                  <a:pt x="276446" y="584791"/>
                </a:cubicBezTo>
                <a:cubicBezTo>
                  <a:pt x="407581" y="676940"/>
                  <a:pt x="634409" y="519223"/>
                  <a:pt x="786809" y="552893"/>
                </a:cubicBezTo>
                <a:cubicBezTo>
                  <a:pt x="939209" y="586563"/>
                  <a:pt x="1063255" y="786810"/>
                  <a:pt x="1190846" y="786810"/>
                </a:cubicBezTo>
                <a:cubicBezTo>
                  <a:pt x="1318437" y="786810"/>
                  <a:pt x="1506279" y="625549"/>
                  <a:pt x="1552353" y="552893"/>
                </a:cubicBezTo>
              </a:path>
            </a:pathLst>
          </a:custGeom>
          <a:noFill/>
          <a:ln w="19050">
            <a:solidFill>
              <a:schemeClr val="accent1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D92A26-C207-8DE7-1175-8BF13DCFBCE7}"/>
              </a:ext>
            </a:extLst>
          </p:cNvPr>
          <p:cNvSpPr/>
          <p:nvPr/>
        </p:nvSpPr>
        <p:spPr>
          <a:xfrm>
            <a:off x="8301026" y="1616967"/>
            <a:ext cx="886708" cy="1428337"/>
          </a:xfrm>
          <a:custGeom>
            <a:avLst/>
            <a:gdLst>
              <a:gd name="connsiteX0" fmla="*/ 10632 w 904971"/>
              <a:gd name="connsiteY0" fmla="*/ 233098 h 1392047"/>
              <a:gd name="connsiteX1" fmla="*/ 552893 w 904971"/>
              <a:gd name="connsiteY1" fmla="*/ 9814 h 1392047"/>
              <a:gd name="connsiteX2" fmla="*/ 903767 w 904971"/>
              <a:gd name="connsiteY2" fmla="*/ 520177 h 1392047"/>
              <a:gd name="connsiteX3" fmla="*/ 435935 w 904971"/>
              <a:gd name="connsiteY3" fmla="*/ 902949 h 1392047"/>
              <a:gd name="connsiteX4" fmla="*/ 552893 w 904971"/>
              <a:gd name="connsiteY4" fmla="*/ 1243191 h 1392047"/>
              <a:gd name="connsiteX5" fmla="*/ 0 w 904971"/>
              <a:gd name="connsiteY5" fmla="*/ 1392047 h 1392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4971" h="1392047">
                <a:moveTo>
                  <a:pt x="10632" y="233098"/>
                </a:moveTo>
                <a:cubicBezTo>
                  <a:pt x="207334" y="97533"/>
                  <a:pt x="404037" y="-38032"/>
                  <a:pt x="552893" y="9814"/>
                </a:cubicBezTo>
                <a:cubicBezTo>
                  <a:pt x="701749" y="57660"/>
                  <a:pt x="923260" y="371321"/>
                  <a:pt x="903767" y="520177"/>
                </a:cubicBezTo>
                <a:cubicBezTo>
                  <a:pt x="884274" y="669033"/>
                  <a:pt x="494414" y="782447"/>
                  <a:pt x="435935" y="902949"/>
                </a:cubicBezTo>
                <a:cubicBezTo>
                  <a:pt x="377456" y="1023451"/>
                  <a:pt x="625549" y="1161675"/>
                  <a:pt x="552893" y="1243191"/>
                </a:cubicBezTo>
                <a:cubicBezTo>
                  <a:pt x="480237" y="1324707"/>
                  <a:pt x="67339" y="1349517"/>
                  <a:pt x="0" y="1392047"/>
                </a:cubicBezTo>
              </a:path>
            </a:pathLst>
          </a:custGeom>
          <a:noFill/>
          <a:ln>
            <a:solidFill>
              <a:schemeClr val="accent1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5FE16F5B-2A31-8A19-8611-243B59D9C4EA}"/>
              </a:ext>
            </a:extLst>
          </p:cNvPr>
          <p:cNvSpPr/>
          <p:nvPr/>
        </p:nvSpPr>
        <p:spPr>
          <a:xfrm>
            <a:off x="2289055" y="2998381"/>
            <a:ext cx="858182" cy="1214059"/>
          </a:xfrm>
          <a:custGeom>
            <a:avLst/>
            <a:gdLst>
              <a:gd name="connsiteX0" fmla="*/ 847550 w 858182"/>
              <a:gd name="connsiteY0" fmla="*/ 0 h 1214059"/>
              <a:gd name="connsiteX1" fmla="*/ 28843 w 858182"/>
              <a:gd name="connsiteY1" fmla="*/ 372140 h 1214059"/>
              <a:gd name="connsiteX2" fmla="*/ 230861 w 858182"/>
              <a:gd name="connsiteY2" fmla="*/ 1052624 h 1214059"/>
              <a:gd name="connsiteX3" fmla="*/ 677429 w 858182"/>
              <a:gd name="connsiteY3" fmla="*/ 1212112 h 1214059"/>
              <a:gd name="connsiteX4" fmla="*/ 858182 w 858182"/>
              <a:gd name="connsiteY4" fmla="*/ 988828 h 1214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8182" h="1214059">
                <a:moveTo>
                  <a:pt x="847550" y="0"/>
                </a:moveTo>
                <a:cubicBezTo>
                  <a:pt x="489587" y="98351"/>
                  <a:pt x="131625" y="196703"/>
                  <a:pt x="28843" y="372140"/>
                </a:cubicBezTo>
                <a:cubicBezTo>
                  <a:pt x="-73939" y="547577"/>
                  <a:pt x="122763" y="912629"/>
                  <a:pt x="230861" y="1052624"/>
                </a:cubicBezTo>
                <a:cubicBezTo>
                  <a:pt x="338959" y="1192619"/>
                  <a:pt x="572875" y="1222745"/>
                  <a:pt x="677429" y="1212112"/>
                </a:cubicBezTo>
                <a:cubicBezTo>
                  <a:pt x="781982" y="1201479"/>
                  <a:pt x="820082" y="1095153"/>
                  <a:pt x="858182" y="988828"/>
                </a:cubicBezTo>
              </a:path>
            </a:pathLst>
          </a:custGeom>
          <a:noFill/>
          <a:ln>
            <a:solidFill>
              <a:schemeClr val="accent1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B27849A7-C1EE-FE31-D9E9-270C83C1AA63}"/>
              </a:ext>
            </a:extLst>
          </p:cNvPr>
          <p:cNvSpPr/>
          <p:nvPr/>
        </p:nvSpPr>
        <p:spPr>
          <a:xfrm>
            <a:off x="8293395" y="4008474"/>
            <a:ext cx="702792" cy="999461"/>
          </a:xfrm>
          <a:custGeom>
            <a:avLst/>
            <a:gdLst>
              <a:gd name="connsiteX0" fmla="*/ 0 w 702792"/>
              <a:gd name="connsiteY0" fmla="*/ 0 h 999461"/>
              <a:gd name="connsiteX1" fmla="*/ 691117 w 702792"/>
              <a:gd name="connsiteY1" fmla="*/ 425303 h 999461"/>
              <a:gd name="connsiteX2" fmla="*/ 404038 w 702792"/>
              <a:gd name="connsiteY2" fmla="*/ 850605 h 999461"/>
              <a:gd name="connsiteX3" fmla="*/ 10633 w 702792"/>
              <a:gd name="connsiteY3" fmla="*/ 999461 h 999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2792" h="999461">
                <a:moveTo>
                  <a:pt x="0" y="0"/>
                </a:moveTo>
                <a:cubicBezTo>
                  <a:pt x="311888" y="141768"/>
                  <a:pt x="623777" y="283536"/>
                  <a:pt x="691117" y="425303"/>
                </a:cubicBezTo>
                <a:cubicBezTo>
                  <a:pt x="758457" y="567070"/>
                  <a:pt x="517452" y="754912"/>
                  <a:pt x="404038" y="850605"/>
                </a:cubicBezTo>
                <a:cubicBezTo>
                  <a:pt x="290624" y="946298"/>
                  <a:pt x="150628" y="972879"/>
                  <a:pt x="10633" y="999461"/>
                </a:cubicBezTo>
              </a:path>
            </a:pathLst>
          </a:custGeom>
          <a:noFill/>
          <a:ln>
            <a:solidFill>
              <a:schemeClr val="accent1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BEE201E3-9B1C-DCD4-001B-84C0DF835E17}"/>
              </a:ext>
            </a:extLst>
          </p:cNvPr>
          <p:cNvSpPr/>
          <p:nvPr/>
        </p:nvSpPr>
        <p:spPr>
          <a:xfrm>
            <a:off x="2299689" y="4997302"/>
            <a:ext cx="858182" cy="1224377"/>
          </a:xfrm>
          <a:custGeom>
            <a:avLst/>
            <a:gdLst>
              <a:gd name="connsiteX0" fmla="*/ 715672 w 726305"/>
              <a:gd name="connsiteY0" fmla="*/ 0 h 1224377"/>
              <a:gd name="connsiteX1" fmla="*/ 56454 w 726305"/>
              <a:gd name="connsiteY1" fmla="*/ 404038 h 1224377"/>
              <a:gd name="connsiteX2" fmla="*/ 88351 w 726305"/>
              <a:gd name="connsiteY2" fmla="*/ 935665 h 1224377"/>
              <a:gd name="connsiteX3" fmla="*/ 524286 w 726305"/>
              <a:gd name="connsiteY3" fmla="*/ 1222745 h 1224377"/>
              <a:gd name="connsiteX4" fmla="*/ 726305 w 726305"/>
              <a:gd name="connsiteY4" fmla="*/ 1031358 h 1224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6305" h="1224377">
                <a:moveTo>
                  <a:pt x="715672" y="0"/>
                </a:moveTo>
                <a:cubicBezTo>
                  <a:pt x="438339" y="124047"/>
                  <a:pt x="161007" y="248094"/>
                  <a:pt x="56454" y="404038"/>
                </a:cubicBezTo>
                <a:cubicBezTo>
                  <a:pt x="-48099" y="559982"/>
                  <a:pt x="10379" y="799214"/>
                  <a:pt x="88351" y="935665"/>
                </a:cubicBezTo>
                <a:cubicBezTo>
                  <a:pt x="166323" y="1072116"/>
                  <a:pt x="417960" y="1206796"/>
                  <a:pt x="524286" y="1222745"/>
                </a:cubicBezTo>
                <a:cubicBezTo>
                  <a:pt x="630612" y="1238694"/>
                  <a:pt x="678458" y="1135026"/>
                  <a:pt x="726305" y="1031358"/>
                </a:cubicBezTo>
              </a:path>
            </a:pathLst>
          </a:custGeom>
          <a:noFill/>
          <a:ln>
            <a:solidFill>
              <a:schemeClr val="accent1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48ED5A60-794A-9DCC-4562-596BBB8F6064}"/>
              </a:ext>
            </a:extLst>
          </p:cNvPr>
          <p:cNvSpPr/>
          <p:nvPr/>
        </p:nvSpPr>
        <p:spPr>
          <a:xfrm>
            <a:off x="8304028" y="5626313"/>
            <a:ext cx="2466753" cy="652581"/>
          </a:xfrm>
          <a:custGeom>
            <a:avLst/>
            <a:gdLst>
              <a:gd name="connsiteX0" fmla="*/ 0 w 2466753"/>
              <a:gd name="connsiteY0" fmla="*/ 381082 h 652581"/>
              <a:gd name="connsiteX1" fmla="*/ 340242 w 2466753"/>
              <a:gd name="connsiteY1" fmla="*/ 646896 h 652581"/>
              <a:gd name="connsiteX2" fmla="*/ 1169581 w 2466753"/>
              <a:gd name="connsiteY2" fmla="*/ 519306 h 652581"/>
              <a:gd name="connsiteX3" fmla="*/ 1679944 w 2466753"/>
              <a:gd name="connsiteY3" fmla="*/ 30208 h 652581"/>
              <a:gd name="connsiteX4" fmla="*/ 2466753 w 2466753"/>
              <a:gd name="connsiteY4" fmla="*/ 94003 h 652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6753" h="652581">
                <a:moveTo>
                  <a:pt x="0" y="381082"/>
                </a:moveTo>
                <a:cubicBezTo>
                  <a:pt x="72656" y="502470"/>
                  <a:pt x="145312" y="623859"/>
                  <a:pt x="340242" y="646896"/>
                </a:cubicBezTo>
                <a:cubicBezTo>
                  <a:pt x="535172" y="669933"/>
                  <a:pt x="946297" y="622087"/>
                  <a:pt x="1169581" y="519306"/>
                </a:cubicBezTo>
                <a:cubicBezTo>
                  <a:pt x="1392865" y="416525"/>
                  <a:pt x="1463749" y="101092"/>
                  <a:pt x="1679944" y="30208"/>
                </a:cubicBezTo>
                <a:cubicBezTo>
                  <a:pt x="1896139" y="-40676"/>
                  <a:pt x="2181446" y="26663"/>
                  <a:pt x="2466753" y="94003"/>
                </a:cubicBezTo>
              </a:path>
            </a:pathLst>
          </a:custGeom>
          <a:noFill/>
          <a:ln>
            <a:solidFill>
              <a:schemeClr val="accent1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Graphic 16" descr="Car with solid fill">
            <a:extLst>
              <a:ext uri="{FF2B5EF4-FFF2-40B4-BE49-F238E27FC236}">
                <a16:creationId xmlns:a16="http://schemas.microsoft.com/office/drawing/2014/main" id="{29D9126E-C2A1-D5A4-2FA0-06BED99BA0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395650">
            <a:off x="2322987" y="1653500"/>
            <a:ext cx="322121" cy="322121"/>
          </a:xfrm>
          <a:prstGeom prst="rect">
            <a:avLst/>
          </a:prstGeom>
        </p:spPr>
      </p:pic>
      <p:pic>
        <p:nvPicPr>
          <p:cNvPr id="18" name="Graphic 17" descr="Car with solid fill">
            <a:extLst>
              <a:ext uri="{FF2B5EF4-FFF2-40B4-BE49-F238E27FC236}">
                <a16:creationId xmlns:a16="http://schemas.microsoft.com/office/drawing/2014/main" id="{02D8D061-8624-B465-7216-58CE2AF869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555338">
            <a:off x="8421651" y="3866900"/>
            <a:ext cx="322121" cy="322121"/>
          </a:xfrm>
          <a:prstGeom prst="rect">
            <a:avLst/>
          </a:prstGeom>
        </p:spPr>
      </p:pic>
      <p:pic>
        <p:nvPicPr>
          <p:cNvPr id="19" name="Graphic 18" descr="Car with solid fill">
            <a:extLst>
              <a:ext uri="{FF2B5EF4-FFF2-40B4-BE49-F238E27FC236}">
                <a16:creationId xmlns:a16="http://schemas.microsoft.com/office/drawing/2014/main" id="{CAD170D7-B156-04A8-8D53-6443D16C84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468623">
            <a:off x="2573704" y="5880123"/>
            <a:ext cx="322121" cy="322121"/>
          </a:xfrm>
          <a:prstGeom prst="rect">
            <a:avLst/>
          </a:prstGeom>
        </p:spPr>
      </p:pic>
      <p:pic>
        <p:nvPicPr>
          <p:cNvPr id="20" name="Graphic 19" descr="Convertible with solid fill">
            <a:extLst>
              <a:ext uri="{FF2B5EF4-FFF2-40B4-BE49-F238E27FC236}">
                <a16:creationId xmlns:a16="http://schemas.microsoft.com/office/drawing/2014/main" id="{FB850FFE-3EE6-91AD-182A-9213ED0DC6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3091343">
            <a:off x="8940683" y="1550410"/>
            <a:ext cx="430305" cy="430305"/>
          </a:xfrm>
          <a:prstGeom prst="rect">
            <a:avLst/>
          </a:prstGeom>
        </p:spPr>
      </p:pic>
      <p:pic>
        <p:nvPicPr>
          <p:cNvPr id="21" name="Graphic 20" descr="Convertible with solid fill">
            <a:extLst>
              <a:ext uri="{FF2B5EF4-FFF2-40B4-BE49-F238E27FC236}">
                <a16:creationId xmlns:a16="http://schemas.microsoft.com/office/drawing/2014/main" id="{7BF09823-DA8F-8F8B-9F3D-11618A22A1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93871">
            <a:off x="10229089" y="5309798"/>
            <a:ext cx="430305" cy="430305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A6412B64-D80C-686B-A280-805F0D97697A}"/>
              </a:ext>
            </a:extLst>
          </p:cNvPr>
          <p:cNvGrpSpPr/>
          <p:nvPr/>
        </p:nvGrpSpPr>
        <p:grpSpPr>
          <a:xfrm>
            <a:off x="9966289" y="2477520"/>
            <a:ext cx="1453771" cy="2038546"/>
            <a:chOff x="2850775" y="2580345"/>
            <a:chExt cx="1453771" cy="2038546"/>
          </a:xfrm>
        </p:grpSpPr>
        <p:pic>
          <p:nvPicPr>
            <p:cNvPr id="23" name="Picture 22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847384EB-420A-63A3-5FFE-32353C920CF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850775" y="2580345"/>
              <a:ext cx="1453771" cy="14537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70611C5-000F-11D8-CD17-50359D544410}"/>
                </a:ext>
              </a:extLst>
            </p:cNvPr>
            <p:cNvSpPr txBox="1"/>
            <p:nvPr/>
          </p:nvSpPr>
          <p:spPr>
            <a:xfrm>
              <a:off x="2949123" y="4034116"/>
              <a:ext cx="125707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Candara" panose="020E0502030303020204" pitchFamily="34" charset="0"/>
                </a:rPr>
                <a:t>I can’t find a</a:t>
              </a:r>
            </a:p>
            <a:p>
              <a:pPr algn="ctr"/>
              <a:r>
                <a:rPr lang="en-US" sz="1600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Candara" panose="020E0502030303020204" pitchFamily="34" charset="0"/>
                </a:rPr>
                <a:t>SPOT !!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89218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03E25-28A8-DD1F-A8AF-BE4EF32F4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andara" panose="020E0502030303020204" pitchFamily="34" charset="0"/>
              </a:rPr>
              <a:t>Objective and Dataset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19E4B6C-8B51-C7D0-ABC1-0DC8A88B48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22" t="25811" r="11703" b="24480"/>
          <a:stretch/>
        </p:blipFill>
        <p:spPr bwMode="auto">
          <a:xfrm>
            <a:off x="2705265" y="1785552"/>
            <a:ext cx="1902940" cy="1643448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95786F7-F318-8819-95AD-2710AC129D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2" t="22284" r="61397" b="25940"/>
          <a:stretch/>
        </p:blipFill>
        <p:spPr bwMode="auto">
          <a:xfrm>
            <a:off x="7583507" y="1717158"/>
            <a:ext cx="1903228" cy="1711842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13CC12D-2840-330D-BF22-5B30F9E5F62C}"/>
              </a:ext>
            </a:extLst>
          </p:cNvPr>
          <p:cNvSpPr/>
          <p:nvPr/>
        </p:nvSpPr>
        <p:spPr>
          <a:xfrm>
            <a:off x="5369442" y="4380614"/>
            <a:ext cx="1605516" cy="153108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Curved Connector 5">
            <a:extLst>
              <a:ext uri="{FF2B5EF4-FFF2-40B4-BE49-F238E27FC236}">
                <a16:creationId xmlns:a16="http://schemas.microsoft.com/office/drawing/2014/main" id="{8DF5BA51-3660-E11E-2C96-A91CEDAF4E7D}"/>
              </a:ext>
            </a:extLst>
          </p:cNvPr>
          <p:cNvCxnSpPr>
            <a:stCxn id="2050" idx="3"/>
            <a:endCxn id="4" idx="0"/>
          </p:cNvCxnSpPr>
          <p:nvPr/>
        </p:nvCxnSpPr>
        <p:spPr>
          <a:xfrm>
            <a:off x="4608205" y="2607276"/>
            <a:ext cx="1563995" cy="1773338"/>
          </a:xfrm>
          <a:prstGeom prst="curvedConnector2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F4F4108C-20B3-7127-4644-B564B87A9D73}"/>
              </a:ext>
            </a:extLst>
          </p:cNvPr>
          <p:cNvCxnSpPr>
            <a:stCxn id="3" idx="1"/>
            <a:endCxn id="4" idx="0"/>
          </p:cNvCxnSpPr>
          <p:nvPr/>
        </p:nvCxnSpPr>
        <p:spPr>
          <a:xfrm rot="10800000" flipV="1">
            <a:off x="6172201" y="2573078"/>
            <a:ext cx="1411307" cy="1807535"/>
          </a:xfrm>
          <a:prstGeom prst="curvedConnector2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C31BD02-2106-E44F-40CF-40071BBD8D15}"/>
              </a:ext>
            </a:extLst>
          </p:cNvPr>
          <p:cNvSpPr txBox="1"/>
          <p:nvPr/>
        </p:nvSpPr>
        <p:spPr>
          <a:xfrm>
            <a:off x="2864018" y="3523864"/>
            <a:ext cx="15854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andara" panose="020E0502030303020204" pitchFamily="34" charset="0"/>
              </a:rPr>
              <a:t>Find an empty</a:t>
            </a:r>
          </a:p>
          <a:p>
            <a:pPr algn="ctr"/>
            <a:r>
              <a:rPr lang="en-US" dirty="0">
                <a:latin typeface="Candara" panose="020E0502030303020204" pitchFamily="34" charset="0"/>
              </a:rPr>
              <a:t>Parking Spot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8DE822-C881-134C-AC19-339D5ACCFB48}"/>
              </a:ext>
            </a:extLst>
          </p:cNvPr>
          <p:cNvSpPr txBox="1"/>
          <p:nvPr/>
        </p:nvSpPr>
        <p:spPr>
          <a:xfrm>
            <a:off x="7339666" y="3523863"/>
            <a:ext cx="23909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andara" panose="020E0502030303020204" pitchFamily="34" charset="0"/>
              </a:rPr>
              <a:t>Which type of car best</a:t>
            </a:r>
          </a:p>
          <a:p>
            <a:pPr algn="ctr"/>
            <a:r>
              <a:rPr lang="en-US" dirty="0">
                <a:latin typeface="Candara" panose="020E0502030303020204" pitchFamily="34" charset="0"/>
              </a:rPr>
              <a:t>fits in the space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6F757E-120E-F3E2-EE7C-9873592A5DE5}"/>
              </a:ext>
            </a:extLst>
          </p:cNvPr>
          <p:cNvSpPr txBox="1"/>
          <p:nvPr/>
        </p:nvSpPr>
        <p:spPr>
          <a:xfrm>
            <a:off x="5379266" y="5948736"/>
            <a:ext cx="1600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Candara" panose="020E0502030303020204" pitchFamily="34" charset="0"/>
              </a:rPr>
              <a:t>PKLot</a:t>
            </a:r>
            <a:r>
              <a:rPr lang="en-US" dirty="0">
                <a:latin typeface="Candara" panose="020E0502030303020204" pitchFamily="34" charset="0"/>
              </a:rPr>
              <a:t> Dataset</a:t>
            </a:r>
          </a:p>
        </p:txBody>
      </p:sp>
      <p:pic>
        <p:nvPicPr>
          <p:cNvPr id="13" name="Graphic 12" descr="Database with solid fill">
            <a:extLst>
              <a:ext uri="{FF2B5EF4-FFF2-40B4-BE49-F238E27FC236}">
                <a16:creationId xmlns:a16="http://schemas.microsoft.com/office/drawing/2014/main" id="{7381FAEF-3A72-A623-018A-441B61C68A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5000" y="468895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259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F00EC-2F1C-E56D-E9E5-BA74BAA71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andara" panose="020E0502030303020204" pitchFamily="34" charset="0"/>
              </a:rPr>
              <a:t>Model 1 - CNN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673D268E-6B7E-0CFF-8DFC-67CEEEFE67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83" b="23063"/>
          <a:stretch/>
        </p:blipFill>
        <p:spPr bwMode="auto">
          <a:xfrm>
            <a:off x="5200135" y="1569308"/>
            <a:ext cx="6858000" cy="3707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21B8BF-34C3-3D06-5E91-DDD630B0F265}"/>
              </a:ext>
            </a:extLst>
          </p:cNvPr>
          <p:cNvSpPr txBox="1"/>
          <p:nvPr/>
        </p:nvSpPr>
        <p:spPr>
          <a:xfrm>
            <a:off x="838200" y="1960437"/>
            <a:ext cx="14302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andara" panose="020E0502030303020204" pitchFamily="34" charset="0"/>
              </a:rPr>
              <a:t>Labels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8BAD3B-3C31-0084-E849-792A174CE422}"/>
              </a:ext>
            </a:extLst>
          </p:cNvPr>
          <p:cNvSpPr txBox="1"/>
          <p:nvPr/>
        </p:nvSpPr>
        <p:spPr>
          <a:xfrm>
            <a:off x="838200" y="2876517"/>
            <a:ext cx="3869724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spcAft>
                <a:spcPts val="1200"/>
              </a:spcAft>
            </a:pPr>
            <a:r>
              <a:rPr lang="en-IN" sz="1900" b="1" i="0" u="none" strike="noStrike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Definition of parking spots:</a:t>
            </a:r>
            <a:endParaRPr lang="en-IN" b="0" dirty="0">
              <a:effectLst/>
              <a:latin typeface="Candara" panose="020E0502030303020204" pitchFamily="34" charset="0"/>
            </a:endParaRPr>
          </a:p>
          <a:p>
            <a:pPr algn="just" rtl="0" fontAlgn="base">
              <a:spcAft>
                <a:spcPts val="1200"/>
              </a:spcAft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JSON file defines the classes and bounding boxes for each parking spot following the COCO format.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F4BF873-1409-1CD6-C4ED-F8DB2820FB3E}"/>
              </a:ext>
            </a:extLst>
          </p:cNvPr>
          <p:cNvGrpSpPr/>
          <p:nvPr/>
        </p:nvGrpSpPr>
        <p:grpSpPr>
          <a:xfrm>
            <a:off x="11143735" y="341046"/>
            <a:ext cx="681681" cy="721635"/>
            <a:chOff x="11143735" y="333561"/>
            <a:chExt cx="914400" cy="945964"/>
          </a:xfrm>
        </p:grpSpPr>
        <p:pic>
          <p:nvPicPr>
            <p:cNvPr id="7" name="Graphic 6" descr="Trophy with solid fill">
              <a:extLst>
                <a:ext uri="{FF2B5EF4-FFF2-40B4-BE49-F238E27FC236}">
                  <a16:creationId xmlns:a16="http://schemas.microsoft.com/office/drawing/2014/main" id="{219A8A0F-C5BE-51C0-9E0F-2BE8F45FE1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143735" y="365125"/>
              <a:ext cx="914400" cy="9144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B787A33-5532-C1DD-E457-950E217FF3A5}"/>
                </a:ext>
              </a:extLst>
            </p:cNvPr>
            <p:cNvSpPr txBox="1"/>
            <p:nvPr/>
          </p:nvSpPr>
          <p:spPr>
            <a:xfrm>
              <a:off x="11407580" y="333561"/>
              <a:ext cx="28725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chemeClr val="accent1">
                      <a:lumMod val="50000"/>
                    </a:schemeClr>
                  </a:solidFill>
                  <a:latin typeface="Candara" panose="020E0502030303020204" pitchFamily="34" charset="0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4560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C84CE-EE85-87FF-A502-4D77BE578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13172-67C5-ED9D-5544-601016D92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andara" panose="020E0502030303020204" pitchFamily="34" charset="0"/>
              </a:rPr>
              <a:t>Model 1 - CNN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27811E-A04E-F4EB-7AA9-FDFE7D35FFAD}"/>
              </a:ext>
            </a:extLst>
          </p:cNvPr>
          <p:cNvSpPr txBox="1"/>
          <p:nvPr/>
        </p:nvSpPr>
        <p:spPr>
          <a:xfrm>
            <a:off x="838200" y="1960437"/>
            <a:ext cx="30241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andara" panose="020E0502030303020204" pitchFamily="34" charset="0"/>
              </a:rPr>
              <a:t>Preprocessing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D7BB07-BE85-02DD-970A-5F634E1BC154}"/>
              </a:ext>
            </a:extLst>
          </p:cNvPr>
          <p:cNvSpPr txBox="1"/>
          <p:nvPr/>
        </p:nvSpPr>
        <p:spPr>
          <a:xfrm>
            <a:off x="838200" y="2876517"/>
            <a:ext cx="38697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spcAft>
                <a:spcPts val="1200"/>
              </a:spcAft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The dataset is merged and the pictures are cropped into individual parking </a:t>
            </a: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spots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 and classified.</a:t>
            </a:r>
            <a:endParaRPr lang="en-IN" sz="2000" b="0" dirty="0">
              <a:effectLst/>
              <a:latin typeface="Candara" panose="020E0502030303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E626AC-61A5-B701-FDB5-6C75ECAF9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026" y="1456871"/>
            <a:ext cx="5235555" cy="4417326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CE89D399-75FD-083B-0202-E6A679961817}"/>
              </a:ext>
            </a:extLst>
          </p:cNvPr>
          <p:cNvGrpSpPr/>
          <p:nvPr/>
        </p:nvGrpSpPr>
        <p:grpSpPr>
          <a:xfrm>
            <a:off x="11143735" y="341046"/>
            <a:ext cx="681681" cy="721635"/>
            <a:chOff x="11143735" y="333561"/>
            <a:chExt cx="914400" cy="945964"/>
          </a:xfrm>
        </p:grpSpPr>
        <p:pic>
          <p:nvPicPr>
            <p:cNvPr id="16" name="Graphic 15" descr="Trophy with solid fill">
              <a:extLst>
                <a:ext uri="{FF2B5EF4-FFF2-40B4-BE49-F238E27FC236}">
                  <a16:creationId xmlns:a16="http://schemas.microsoft.com/office/drawing/2014/main" id="{481EEDB8-F679-ECC5-72A8-DAA5D4AA0A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143735" y="365125"/>
              <a:ext cx="914400" cy="914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5D47A88-7C06-818C-B286-695FE5046502}"/>
                </a:ext>
              </a:extLst>
            </p:cNvPr>
            <p:cNvSpPr txBox="1"/>
            <p:nvPr/>
          </p:nvSpPr>
          <p:spPr>
            <a:xfrm>
              <a:off x="11407580" y="333561"/>
              <a:ext cx="28725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chemeClr val="accent1">
                      <a:lumMod val="50000"/>
                    </a:schemeClr>
                  </a:solidFill>
                  <a:latin typeface="Candara" panose="020E0502030303020204" pitchFamily="34" charset="0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1925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EC602-9687-2388-010F-1E90772DA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8725E-570C-51E4-6840-E1F074D5D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andara" panose="020E0502030303020204" pitchFamily="34" charset="0"/>
              </a:rPr>
              <a:t>Model 1 - CNN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C066F1-9F73-1637-67C3-352171C7A7F9}"/>
              </a:ext>
            </a:extLst>
          </p:cNvPr>
          <p:cNvSpPr txBox="1"/>
          <p:nvPr/>
        </p:nvSpPr>
        <p:spPr>
          <a:xfrm>
            <a:off x="838199" y="1960437"/>
            <a:ext cx="42064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andara" panose="020E0502030303020204" pitchFamily="34" charset="0"/>
              </a:rPr>
              <a:t>Model Development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9308E8-40C0-4D97-2507-4A85DF0082C6}"/>
              </a:ext>
            </a:extLst>
          </p:cNvPr>
          <p:cNvSpPr txBox="1"/>
          <p:nvPr/>
        </p:nvSpPr>
        <p:spPr>
          <a:xfrm>
            <a:off x="838199" y="2876517"/>
            <a:ext cx="757675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/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A CNN was used for the classification task. </a:t>
            </a:r>
          </a:p>
          <a:p>
            <a:pPr algn="just" rtl="0"/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Containing the following layers:</a:t>
            </a:r>
            <a:endParaRPr lang="en-IN" b="0" dirty="0">
              <a:effectLst/>
              <a:latin typeface="Candara" panose="020E0502030303020204" pitchFamily="34" charset="0"/>
            </a:endParaRPr>
          </a:p>
          <a:p>
            <a:pPr marL="285750" indent="-285750" algn="just" rtl="0" fontAlgn="base">
              <a:buFont typeface="Arial" panose="020B0604020202020204" pitchFamily="34" charset="0"/>
              <a:buChar char="•"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Conv2D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: convolution with 24 kernels.</a:t>
            </a:r>
          </a:p>
          <a:p>
            <a:pPr marL="285750" indent="-285750" algn="just" rtl="0" fontAlgn="base">
              <a:buFont typeface="Arial" panose="020B0604020202020204" pitchFamily="34" charset="0"/>
              <a:buChar char="•"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MaxPooling2D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: reduce dimensions by half.</a:t>
            </a:r>
          </a:p>
          <a:p>
            <a:pPr marL="285750" indent="-285750" algn="just" rtl="0" fontAlgn="base">
              <a:buFont typeface="Arial" panose="020B0604020202020204" pitchFamily="34" charset="0"/>
              <a:buChar char="•"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Conv2d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: convolution with 64 kernels.</a:t>
            </a:r>
          </a:p>
          <a:p>
            <a:pPr marL="285750" indent="-285750" algn="just" rtl="0" fontAlgn="base">
              <a:buFont typeface="Arial" panose="020B0604020202020204" pitchFamily="34" charset="0"/>
              <a:buChar char="•"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MaxPooling2D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: reduce dimensions by half.</a:t>
            </a:r>
          </a:p>
          <a:p>
            <a:pPr marL="285750" indent="-285750" algn="just" rtl="0" fontAlgn="base">
              <a:buFont typeface="Arial" panose="020B0604020202020204" pitchFamily="34" charset="0"/>
              <a:buChar char="•"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Dense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: fully connected layer with 128 neurons.</a:t>
            </a:r>
          </a:p>
          <a:p>
            <a:pPr marL="285750" indent="-285750" algn="just" rtl="0" fontAlgn="base">
              <a:buFont typeface="Arial" panose="020B0604020202020204" pitchFamily="34" charset="0"/>
              <a:buChar char="•"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Dropout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: de activates neurons randomly during training.</a:t>
            </a:r>
          </a:p>
          <a:p>
            <a:pPr marL="285750" indent="-285750" algn="just" rtl="0" fontAlgn="base">
              <a:buFont typeface="Arial" panose="020B0604020202020204" pitchFamily="34" charset="0"/>
              <a:buChar char="•"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Output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: one neuron with sigmoid activation that outputs a probability.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41761747-15FA-3CD3-4B9D-568D63A889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1818" y="2069980"/>
            <a:ext cx="6203092" cy="2099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3EEC66E7-ABCD-4BF4-8068-AA5A18F36644}"/>
              </a:ext>
            </a:extLst>
          </p:cNvPr>
          <p:cNvGrpSpPr/>
          <p:nvPr/>
        </p:nvGrpSpPr>
        <p:grpSpPr>
          <a:xfrm>
            <a:off x="11143735" y="341046"/>
            <a:ext cx="681681" cy="721635"/>
            <a:chOff x="11143735" y="333561"/>
            <a:chExt cx="914400" cy="945964"/>
          </a:xfrm>
        </p:grpSpPr>
        <p:pic>
          <p:nvPicPr>
            <p:cNvPr id="11" name="Graphic 10" descr="Trophy with solid fill">
              <a:extLst>
                <a:ext uri="{FF2B5EF4-FFF2-40B4-BE49-F238E27FC236}">
                  <a16:creationId xmlns:a16="http://schemas.microsoft.com/office/drawing/2014/main" id="{C41CCB75-2821-7063-29F3-F3406E8224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143735" y="365125"/>
              <a:ext cx="914400" cy="9144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F2A5BFA-DD24-92E0-53A4-477810EB6FC9}"/>
                </a:ext>
              </a:extLst>
            </p:cNvPr>
            <p:cNvSpPr txBox="1"/>
            <p:nvPr/>
          </p:nvSpPr>
          <p:spPr>
            <a:xfrm>
              <a:off x="11407580" y="333561"/>
              <a:ext cx="28725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chemeClr val="accent1">
                      <a:lumMod val="50000"/>
                    </a:schemeClr>
                  </a:solidFill>
                  <a:latin typeface="Candara" panose="020E0502030303020204" pitchFamily="34" charset="0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43746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94387-35FA-C8B5-0839-FDA322771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E1639-D0B4-382E-C9B3-15B1FE9A6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andara" panose="020E0502030303020204" pitchFamily="34" charset="0"/>
              </a:rPr>
              <a:t>Model 1 - CNN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73661C-E714-77D3-1CC3-D7F6FAA1DD5F}"/>
              </a:ext>
            </a:extLst>
          </p:cNvPr>
          <p:cNvSpPr txBox="1"/>
          <p:nvPr/>
        </p:nvSpPr>
        <p:spPr>
          <a:xfrm>
            <a:off x="838200" y="1690688"/>
            <a:ext cx="33097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andara" panose="020E0502030303020204" pitchFamily="34" charset="0"/>
              </a:rPr>
              <a:t>Training Metrics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0B1310-42D6-A547-D78E-BF18A2AF8749}"/>
              </a:ext>
            </a:extLst>
          </p:cNvPr>
          <p:cNvSpPr txBox="1"/>
          <p:nvPr/>
        </p:nvSpPr>
        <p:spPr>
          <a:xfrm>
            <a:off x="838200" y="2536735"/>
            <a:ext cx="105156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Epoch 1/10</a:t>
            </a:r>
          </a:p>
          <a:p>
            <a:pPr rtl="0"/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8015/8015 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Candara" panose="020E0502030303020204" pitchFamily="34" charset="0"/>
                <a:ea typeface="MS Gothic" panose="020B0609070205080204" pitchFamily="49" charset="-128"/>
              </a:rPr>
              <a:t>━━━━━━━━━━━━━━━━━━━━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 167s 20ms/step - accuracy: 0.9551 - loss: 0.1395 - </a:t>
            </a:r>
            <a:r>
              <a:rPr lang="en-IN" sz="1600" b="0" i="0" u="none" strike="noStrike" dirty="0" err="1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val_accuracy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: 0.9698 - </a:t>
            </a:r>
            <a:r>
              <a:rPr lang="en-IN" sz="1600" b="0" i="0" u="none" strike="noStrike" dirty="0" err="1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val_loss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: 0.0767</a:t>
            </a:r>
            <a:endParaRPr lang="en-IN" sz="1600" b="0" dirty="0">
              <a:effectLst/>
              <a:latin typeface="Candara" panose="020E0502030303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Epoch 2/10</a:t>
            </a:r>
          </a:p>
          <a:p>
            <a:pPr rtl="0"/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8015/8015 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Candara" panose="020E0502030303020204" pitchFamily="34" charset="0"/>
                <a:ea typeface="MS Gothic" panose="020B0609070205080204" pitchFamily="49" charset="-128"/>
              </a:rPr>
              <a:t>━━━━━━━━━━━━━━━━━━━━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 87s 11ms/step - accuracy: 0.9711 - loss: 0.0742 - </a:t>
            </a:r>
            <a:r>
              <a:rPr lang="en-IN" sz="1600" b="0" i="0" u="none" strike="noStrike" dirty="0" err="1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val_accuracy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: 0.9797 - </a:t>
            </a:r>
            <a:r>
              <a:rPr lang="en-IN" sz="1600" b="0" i="0" u="none" strike="noStrike" dirty="0" err="1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val_loss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: 0.0514</a:t>
            </a:r>
          </a:p>
          <a:p>
            <a:pPr rtl="0"/>
            <a:endParaRPr lang="en-IN" sz="1600" dirty="0">
              <a:solidFill>
                <a:srgbClr val="000000"/>
              </a:solidFill>
              <a:latin typeface="Candara" panose="020E0502030303020204" pitchFamily="34" charset="0"/>
            </a:endParaRPr>
          </a:p>
          <a:p>
            <a:pPr rtl="0"/>
            <a:r>
              <a:rPr lang="en-IN" sz="1600" b="0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……</a:t>
            </a:r>
            <a:br>
              <a:rPr lang="en-IN" sz="1600" b="0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</a:br>
            <a:endParaRPr lang="en-IN" sz="1600" b="0" dirty="0">
              <a:solidFill>
                <a:srgbClr val="000000"/>
              </a:solidFill>
              <a:effectLst/>
              <a:latin typeface="Candara" panose="020E0502030303020204" pitchFamily="34" charset="0"/>
            </a:endParaRPr>
          </a:p>
          <a:p>
            <a:pPr rtl="0"/>
            <a:endParaRPr lang="en-IN" sz="1600" b="0" dirty="0">
              <a:effectLst/>
              <a:latin typeface="Candara" panose="020E0502030303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Epoch 9/10</a:t>
            </a:r>
          </a:p>
          <a:p>
            <a:pPr rtl="0"/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8015/8015 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Candara" panose="020E0502030303020204" pitchFamily="34" charset="0"/>
                <a:ea typeface="MS Gothic" panose="020B0609070205080204" pitchFamily="49" charset="-128"/>
              </a:rPr>
              <a:t>━━━━━━━━━━━━━━━━━━━━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 89s 11ms/step - accuracy: 0.9927 - loss: 0.0227 - </a:t>
            </a:r>
            <a:r>
              <a:rPr lang="en-IN" sz="1600" b="0" i="0" u="none" strike="noStrike" dirty="0" err="1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val_accuracy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: 0.9952 - </a:t>
            </a:r>
            <a:r>
              <a:rPr lang="en-IN" sz="1600" b="0" i="0" u="none" strike="noStrike" dirty="0" err="1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val_loss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: 0.0202</a:t>
            </a:r>
            <a:endParaRPr lang="en-IN" sz="1600" b="0" dirty="0">
              <a:effectLst/>
              <a:latin typeface="Candara" panose="020E0502030303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Epoch 10/10</a:t>
            </a:r>
          </a:p>
          <a:p>
            <a:pPr algn="just" rtl="0"/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8015/8015 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Candara" panose="020E0502030303020204" pitchFamily="34" charset="0"/>
                <a:ea typeface="MS Gothic" panose="020B0609070205080204" pitchFamily="49" charset="-128"/>
              </a:rPr>
              <a:t>━━━━━━━━━━━━━━━━━━━━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 87s 11ms/step - accuracy: 0.9934 - loss: 0.0211 - </a:t>
            </a:r>
            <a:r>
              <a:rPr lang="en-IN" sz="1600" b="0" i="0" u="none" strike="noStrike" dirty="0" err="1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val_accuracy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: 0.9957 - </a:t>
            </a:r>
            <a:r>
              <a:rPr lang="en-IN" sz="1600" b="0" i="0" u="none" strike="noStrike" dirty="0" err="1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val_loss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Candara" panose="020E0502030303020204" pitchFamily="34" charset="0"/>
              </a:rPr>
              <a:t>: 0.0182</a:t>
            </a:r>
            <a:endParaRPr lang="en-IN" sz="1600" b="0" dirty="0">
              <a:effectLst/>
              <a:latin typeface="Candara" panose="020E0502030303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896C364-DDB8-E311-6D5D-513DD1A6D7AF}"/>
              </a:ext>
            </a:extLst>
          </p:cNvPr>
          <p:cNvGrpSpPr/>
          <p:nvPr/>
        </p:nvGrpSpPr>
        <p:grpSpPr>
          <a:xfrm>
            <a:off x="11143735" y="341046"/>
            <a:ext cx="681681" cy="721635"/>
            <a:chOff x="11143735" y="333561"/>
            <a:chExt cx="914400" cy="945964"/>
          </a:xfrm>
        </p:grpSpPr>
        <p:pic>
          <p:nvPicPr>
            <p:cNvPr id="9" name="Graphic 8" descr="Trophy with solid fill">
              <a:extLst>
                <a:ext uri="{FF2B5EF4-FFF2-40B4-BE49-F238E27FC236}">
                  <a16:creationId xmlns:a16="http://schemas.microsoft.com/office/drawing/2014/main" id="{D4A2E51D-FC15-B1DB-1910-AE7E321814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143735" y="365125"/>
              <a:ext cx="914400" cy="9144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55A8B59-50D2-E152-1D63-303C841E9CE0}"/>
                </a:ext>
              </a:extLst>
            </p:cNvPr>
            <p:cNvSpPr txBox="1"/>
            <p:nvPr/>
          </p:nvSpPr>
          <p:spPr>
            <a:xfrm>
              <a:off x="11407580" y="333561"/>
              <a:ext cx="28725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chemeClr val="accent1">
                      <a:lumMod val="50000"/>
                    </a:schemeClr>
                  </a:solidFill>
                  <a:latin typeface="Candara" panose="020E0502030303020204" pitchFamily="34" charset="0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20198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9EC7C-E317-C984-EDC0-B2753916B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E1C1C-8850-3188-C92E-0941D269E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andara" panose="020E0502030303020204" pitchFamily="34" charset="0"/>
              </a:rPr>
              <a:t>Model 1 - CNN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D8D5E40C-0C42-51E1-8AD8-D0215004DC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72"/>
          <a:stretch/>
        </p:blipFill>
        <p:spPr bwMode="auto">
          <a:xfrm>
            <a:off x="1128605" y="1371600"/>
            <a:ext cx="9934790" cy="5362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62B51EB0-50FC-8E20-7485-94C46D631C13}"/>
              </a:ext>
            </a:extLst>
          </p:cNvPr>
          <p:cNvGrpSpPr/>
          <p:nvPr/>
        </p:nvGrpSpPr>
        <p:grpSpPr>
          <a:xfrm>
            <a:off x="11143735" y="341046"/>
            <a:ext cx="681681" cy="721635"/>
            <a:chOff x="11143735" y="333561"/>
            <a:chExt cx="914400" cy="945964"/>
          </a:xfrm>
        </p:grpSpPr>
        <p:pic>
          <p:nvPicPr>
            <p:cNvPr id="9" name="Graphic 8" descr="Trophy with solid fill">
              <a:extLst>
                <a:ext uri="{FF2B5EF4-FFF2-40B4-BE49-F238E27FC236}">
                  <a16:creationId xmlns:a16="http://schemas.microsoft.com/office/drawing/2014/main" id="{C4438790-6B4E-2CC2-2EF6-C2EB9862C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143735" y="365125"/>
              <a:ext cx="914400" cy="9144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1CE51FD-033D-0E12-8C08-9F762CCCEB52}"/>
                </a:ext>
              </a:extLst>
            </p:cNvPr>
            <p:cNvSpPr txBox="1"/>
            <p:nvPr/>
          </p:nvSpPr>
          <p:spPr>
            <a:xfrm>
              <a:off x="11407580" y="333561"/>
              <a:ext cx="28725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chemeClr val="accent1">
                      <a:lumMod val="50000"/>
                    </a:schemeClr>
                  </a:solidFill>
                  <a:latin typeface="Candara" panose="020E0502030303020204" pitchFamily="34" charset="0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25182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6B18D-F86C-AEE8-3F99-B8BE62368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88055-56AE-55AF-453B-5A9D67687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andara" panose="020E0502030303020204" pitchFamily="34" charset="0"/>
              </a:rPr>
              <a:t>Model 1 - CNN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DDB2095C-F603-243B-5FF0-FC9389CD6C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62"/>
          <a:stretch/>
        </p:blipFill>
        <p:spPr bwMode="auto">
          <a:xfrm>
            <a:off x="2110945" y="1408227"/>
            <a:ext cx="7970109" cy="5354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24A9CBDF-EEB8-C810-17C3-28D0C082B2D9}"/>
              </a:ext>
            </a:extLst>
          </p:cNvPr>
          <p:cNvGrpSpPr/>
          <p:nvPr/>
        </p:nvGrpSpPr>
        <p:grpSpPr>
          <a:xfrm>
            <a:off x="11143735" y="341046"/>
            <a:ext cx="681681" cy="721635"/>
            <a:chOff x="11143735" y="333561"/>
            <a:chExt cx="914400" cy="945964"/>
          </a:xfrm>
        </p:grpSpPr>
        <p:pic>
          <p:nvPicPr>
            <p:cNvPr id="7" name="Graphic 6" descr="Trophy with solid fill">
              <a:extLst>
                <a:ext uri="{FF2B5EF4-FFF2-40B4-BE49-F238E27FC236}">
                  <a16:creationId xmlns:a16="http://schemas.microsoft.com/office/drawing/2014/main" id="{8CC5009D-111F-265E-001A-80532622F4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143735" y="365125"/>
              <a:ext cx="914400" cy="9144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534D733-7D14-E84B-DB5F-6960BB1F216A}"/>
                </a:ext>
              </a:extLst>
            </p:cNvPr>
            <p:cNvSpPr txBox="1"/>
            <p:nvPr/>
          </p:nvSpPr>
          <p:spPr>
            <a:xfrm>
              <a:off x="11407580" y="333561"/>
              <a:ext cx="28725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chemeClr val="accent1">
                      <a:lumMod val="50000"/>
                    </a:schemeClr>
                  </a:solidFill>
                  <a:latin typeface="Candara" panose="020E0502030303020204" pitchFamily="34" charset="0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8454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E88B0-BB48-C17A-9BF9-869A663F9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B68ED-EB70-D329-FF8C-CA1627A37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andara" panose="020E0502030303020204" pitchFamily="34" charset="0"/>
              </a:rPr>
              <a:t>Model 2 – YoloV8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4453BD-EFC1-70BF-B2FC-552A5E92FF0A}"/>
              </a:ext>
            </a:extLst>
          </p:cNvPr>
          <p:cNvSpPr txBox="1"/>
          <p:nvPr/>
        </p:nvSpPr>
        <p:spPr>
          <a:xfrm>
            <a:off x="838200" y="2505670"/>
            <a:ext cx="53875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ndara" panose="020E0502030303020204" pitchFamily="34" charset="0"/>
              </a:rPr>
              <a:t>Custom trained model: YoloV8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ndara" panose="020E0502030303020204" pitchFamily="34" charset="0"/>
              </a:rPr>
              <a:t>Different learning rates and epochs experimented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ndara" panose="020E0502030303020204" pitchFamily="34" charset="0"/>
              </a:rPr>
              <a:t>Annotations converted to Yolo format</a:t>
            </a:r>
          </a:p>
        </p:txBody>
      </p:sp>
      <p:pic>
        <p:nvPicPr>
          <p:cNvPr id="7" name="Picture 6" descr="A screenshot of a parking lot with cars and numbers&#10;&#10;Description automatically generated">
            <a:extLst>
              <a:ext uri="{FF2B5EF4-FFF2-40B4-BE49-F238E27FC236}">
                <a16:creationId xmlns:a16="http://schemas.microsoft.com/office/drawing/2014/main" id="{0446951B-B5BF-18EA-30F6-8476EDD86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3183" y="1690688"/>
            <a:ext cx="4847752" cy="4839336"/>
          </a:xfrm>
          <a:prstGeom prst="rect">
            <a:avLst/>
          </a:prstGeom>
        </p:spPr>
      </p:pic>
      <p:pic>
        <p:nvPicPr>
          <p:cNvPr id="9" name="Graphic 8" descr="Binoculars with solid fill">
            <a:extLst>
              <a:ext uri="{FF2B5EF4-FFF2-40B4-BE49-F238E27FC236}">
                <a16:creationId xmlns:a16="http://schemas.microsoft.com/office/drawing/2014/main" id="{B648EFF2-9300-23AA-7EA8-009E1ED6F2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74773" y="4022124"/>
            <a:ext cx="914400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2F7B920-BC50-BF8E-2BC6-7F4145B42313}"/>
              </a:ext>
            </a:extLst>
          </p:cNvPr>
          <p:cNvSpPr txBox="1"/>
          <p:nvPr/>
        </p:nvSpPr>
        <p:spPr>
          <a:xfrm>
            <a:off x="1324747" y="4936524"/>
            <a:ext cx="44144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Candara" panose="020E0502030303020204" pitchFamily="34" charset="0"/>
              </a:rPr>
              <a:t>Predicted if parking space is empty or filled </a:t>
            </a:r>
          </a:p>
          <a:p>
            <a:pPr algn="ctr"/>
            <a:r>
              <a:rPr lang="en-US" dirty="0">
                <a:latin typeface="Candara" panose="020E0502030303020204" pitchFamily="34" charset="0"/>
              </a:rPr>
              <a:t>along with the probability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687B65D-4397-5511-C6D2-78CFEB0F3231}"/>
              </a:ext>
            </a:extLst>
          </p:cNvPr>
          <p:cNvGrpSpPr/>
          <p:nvPr/>
        </p:nvGrpSpPr>
        <p:grpSpPr>
          <a:xfrm>
            <a:off x="11143735" y="341046"/>
            <a:ext cx="681681" cy="721635"/>
            <a:chOff x="11143735" y="333561"/>
            <a:chExt cx="914400" cy="945964"/>
          </a:xfrm>
        </p:grpSpPr>
        <p:pic>
          <p:nvPicPr>
            <p:cNvPr id="16" name="Graphic 15" descr="Trophy with solid fill">
              <a:extLst>
                <a:ext uri="{FF2B5EF4-FFF2-40B4-BE49-F238E27FC236}">
                  <a16:creationId xmlns:a16="http://schemas.microsoft.com/office/drawing/2014/main" id="{AAA4EFA5-50A5-1385-F0E5-5AF6B50635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143735" y="365125"/>
              <a:ext cx="914400" cy="914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AC7E67B-AB90-0DB3-F418-4949C29B5B3C}"/>
                </a:ext>
              </a:extLst>
            </p:cNvPr>
            <p:cNvSpPr txBox="1"/>
            <p:nvPr/>
          </p:nvSpPr>
          <p:spPr>
            <a:xfrm>
              <a:off x="11407580" y="333561"/>
              <a:ext cx="28725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chemeClr val="accent1">
                      <a:lumMod val="50000"/>
                    </a:schemeClr>
                  </a:solidFill>
                  <a:latin typeface="Candara" panose="020E0502030303020204" pitchFamily="34" charset="0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76054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57A85-0B5C-D22F-87B8-00F7B6844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8B2BC-6613-28D7-E4AC-628D955C9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andara" panose="020E0502030303020204" pitchFamily="34" charset="0"/>
              </a:rPr>
              <a:t>Model Performance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6110A3D-9131-5924-A2B6-DF067F0201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55580"/>
              </p:ext>
            </p:extLst>
          </p:nvPr>
        </p:nvGraphicFramePr>
        <p:xfrm>
          <a:off x="909250" y="1617642"/>
          <a:ext cx="6685006" cy="495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0889">
                  <a:extLst>
                    <a:ext uri="{9D8B030D-6E8A-4147-A177-3AD203B41FA5}">
                      <a16:colId xmlns:a16="http://schemas.microsoft.com/office/drawing/2014/main" val="3972334047"/>
                    </a:ext>
                  </a:extLst>
                </a:gridCol>
                <a:gridCol w="4113025">
                  <a:extLst>
                    <a:ext uri="{9D8B030D-6E8A-4147-A177-3AD203B41FA5}">
                      <a16:colId xmlns:a16="http://schemas.microsoft.com/office/drawing/2014/main" val="3717799960"/>
                    </a:ext>
                  </a:extLst>
                </a:gridCol>
                <a:gridCol w="1631092">
                  <a:extLst>
                    <a:ext uri="{9D8B030D-6E8A-4147-A177-3AD203B41FA5}">
                      <a16:colId xmlns:a16="http://schemas.microsoft.com/office/drawing/2014/main" val="13741431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ndara" panose="020E0502030303020204" pitchFamily="34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ndara" panose="020E0502030303020204" pitchFamily="34" charset="0"/>
                        </a:rPr>
                        <a:t>Attributes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ndara" panose="020E0502030303020204" pitchFamily="34" charset="0"/>
                        </a:rPr>
                        <a:t>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064525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ndara" panose="020E0502030303020204" pitchFamily="34" charset="0"/>
                        </a:rPr>
                        <a:t>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ndara" panose="020E0502030303020204" pitchFamily="34" charset="0"/>
                        </a:rPr>
                        <a:t>Epochs: 10, </a:t>
                      </a:r>
                    </a:p>
                    <a:p>
                      <a:r>
                        <a:rPr lang="en-US" dirty="0">
                          <a:latin typeface="Candara" panose="020E0502030303020204" pitchFamily="34" charset="0"/>
                        </a:rPr>
                        <a:t>Optimization Algorithm: Adam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ndara" panose="020E0502030303020204" pitchFamily="34" charset="0"/>
                        </a:rPr>
                        <a:t>63%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67128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ndara" panose="020E0502030303020204" pitchFamily="34" charset="0"/>
                        </a:rPr>
                        <a:t>Epochs: 40, </a:t>
                      </a:r>
                    </a:p>
                    <a:p>
                      <a:r>
                        <a:rPr lang="en-US" dirty="0">
                          <a:latin typeface="Candara" panose="020E0502030303020204" pitchFamily="34" charset="0"/>
                        </a:rPr>
                        <a:t>Optimization Algorithm: Adam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ndara" panose="020E0502030303020204" pitchFamily="34" charset="0"/>
                        </a:rPr>
                        <a:t>81%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192593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ndara" panose="020E0502030303020204" pitchFamily="34" charset="0"/>
                        </a:rPr>
                        <a:t>Epochs: 80, </a:t>
                      </a:r>
                    </a:p>
                    <a:p>
                      <a:r>
                        <a:rPr lang="en-US" dirty="0">
                          <a:latin typeface="Candara" panose="020E0502030303020204" pitchFamily="34" charset="0"/>
                        </a:rPr>
                        <a:t>Optimization Algorithm: Adam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ndara" panose="020E0502030303020204" pitchFamily="34" charset="0"/>
                        </a:rPr>
                        <a:t>90%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8785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ndara" panose="020E0502030303020204" pitchFamily="34" charset="0"/>
                        </a:rPr>
                        <a:t>Epochs: 40, </a:t>
                      </a:r>
                    </a:p>
                    <a:p>
                      <a:r>
                        <a:rPr lang="en-US" dirty="0">
                          <a:latin typeface="Candara" panose="020E0502030303020204" pitchFamily="34" charset="0"/>
                        </a:rPr>
                        <a:t>Optimization Algorithm: SGD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ndara" panose="020E0502030303020204" pitchFamily="34" charset="0"/>
                        </a:rPr>
                        <a:t>72%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349108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ndara" panose="020E0502030303020204" pitchFamily="34" charset="0"/>
                        </a:rPr>
                        <a:t>Epochs: 40, </a:t>
                      </a:r>
                    </a:p>
                    <a:p>
                      <a:r>
                        <a:rPr lang="en-US" dirty="0">
                          <a:latin typeface="Candara" panose="020E0502030303020204" pitchFamily="34" charset="0"/>
                        </a:rPr>
                        <a:t>Optimization Algorithm: NAG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ndara" panose="020E0502030303020204" pitchFamily="34" charset="0"/>
                        </a:rPr>
                        <a:t>86%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43947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ndara" panose="020E0502030303020204" pitchFamily="34" charset="0"/>
                        </a:rPr>
                        <a:t>Epochs: 80, </a:t>
                      </a:r>
                    </a:p>
                    <a:p>
                      <a:r>
                        <a:rPr lang="en-US" dirty="0">
                          <a:latin typeface="Candara" panose="020E0502030303020204" pitchFamily="34" charset="0"/>
                        </a:rPr>
                        <a:t>Optimization Algorithm: NAG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ndara" panose="020E0502030303020204" pitchFamily="34" charset="0"/>
                        </a:rPr>
                        <a:t>89%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270678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ndara" panose="020E0502030303020204" pitchFamily="34" charset="0"/>
                        </a:rPr>
                        <a:t>YoloV8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ndara" panose="020E0502030303020204" pitchFamily="34" charset="0"/>
                        </a:rPr>
                        <a:t>Epochs: 45; Learning rate: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ndara" panose="020E0502030303020204" pitchFamily="34" charset="0"/>
                        </a:rPr>
                        <a:t>79%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86980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ndara" panose="020E0502030303020204" pitchFamily="34" charset="0"/>
                        </a:rPr>
                        <a:t>Epochs: 80; Learning rate: 0.005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ndara" panose="020E0502030303020204" pitchFamily="34" charset="0"/>
                        </a:rPr>
                        <a:t>92%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69701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4DD089B-1828-6F88-F5DD-B68751126D9F}"/>
              </a:ext>
            </a:extLst>
          </p:cNvPr>
          <p:cNvSpPr txBox="1"/>
          <p:nvPr/>
        </p:nvSpPr>
        <p:spPr>
          <a:xfrm>
            <a:off x="8600177" y="5831978"/>
            <a:ext cx="300075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ndara" panose="020E0502030303020204" pitchFamily="34" charset="0"/>
              </a:rPr>
              <a:t>Adam: Adaptive Moment Estimation</a:t>
            </a:r>
          </a:p>
          <a:p>
            <a:r>
              <a:rPr lang="en-US" sz="1400" dirty="0">
                <a:latin typeface="Candara" panose="020E0502030303020204" pitchFamily="34" charset="0"/>
              </a:rPr>
              <a:t>SGD: Stochastic Gradient Descent</a:t>
            </a:r>
          </a:p>
          <a:p>
            <a:r>
              <a:rPr lang="en-US" sz="1400" dirty="0">
                <a:latin typeface="Candara" panose="020E0502030303020204" pitchFamily="34" charset="0"/>
              </a:rPr>
              <a:t>NAG: Nesterov Accelerated Gradient</a:t>
            </a:r>
          </a:p>
        </p:txBody>
      </p:sp>
      <p:pic>
        <p:nvPicPr>
          <p:cNvPr id="8" name="Graphic 7" descr="Podium with solid fill">
            <a:extLst>
              <a:ext uri="{FF2B5EF4-FFF2-40B4-BE49-F238E27FC236}">
                <a16:creationId xmlns:a16="http://schemas.microsoft.com/office/drawing/2014/main" id="{CBC835C1-B4B9-B3D3-C30F-B5729AEAE3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05318" y="1690688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B5F823F-EA5F-98AD-F4FF-7C2519C2C0B0}"/>
              </a:ext>
            </a:extLst>
          </p:cNvPr>
          <p:cNvSpPr txBox="1"/>
          <p:nvPr/>
        </p:nvSpPr>
        <p:spPr>
          <a:xfrm>
            <a:off x="8562138" y="2830483"/>
            <a:ext cx="30007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ndara" panose="020E0502030303020204" pitchFamily="34" charset="0"/>
              </a:rPr>
              <a:t>YoloV8 with high epochs</a:t>
            </a:r>
          </a:p>
          <a:p>
            <a:pPr algn="ctr"/>
            <a:r>
              <a:rPr lang="en-US" dirty="0">
                <a:latin typeface="Candara" panose="020E0502030303020204" pitchFamily="34" charset="0"/>
              </a:rPr>
              <a:t>CNN with Adam Optimizer</a:t>
            </a:r>
          </a:p>
          <a:p>
            <a:pPr algn="ctr"/>
            <a:r>
              <a:rPr lang="en-US" dirty="0">
                <a:latin typeface="Candara" panose="020E0502030303020204" pitchFamily="34" charset="0"/>
              </a:rPr>
              <a:t>CNN with NAG Optimizer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54DF746-204A-B057-F405-37951B8BCD7C}"/>
              </a:ext>
            </a:extLst>
          </p:cNvPr>
          <p:cNvGrpSpPr/>
          <p:nvPr/>
        </p:nvGrpSpPr>
        <p:grpSpPr>
          <a:xfrm>
            <a:off x="11143735" y="341046"/>
            <a:ext cx="681681" cy="721635"/>
            <a:chOff x="11143735" y="333561"/>
            <a:chExt cx="914400" cy="945964"/>
          </a:xfrm>
        </p:grpSpPr>
        <p:pic>
          <p:nvPicPr>
            <p:cNvPr id="14" name="Graphic 13" descr="Trophy with solid fill">
              <a:extLst>
                <a:ext uri="{FF2B5EF4-FFF2-40B4-BE49-F238E27FC236}">
                  <a16:creationId xmlns:a16="http://schemas.microsoft.com/office/drawing/2014/main" id="{BA442475-4986-6130-8E4E-96C61A8222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143735" y="365125"/>
              <a:ext cx="914400" cy="9144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C2E2622-89FD-166C-E950-3F7F064B49EB}"/>
                </a:ext>
              </a:extLst>
            </p:cNvPr>
            <p:cNvSpPr txBox="1"/>
            <p:nvPr/>
          </p:nvSpPr>
          <p:spPr>
            <a:xfrm>
              <a:off x="11407580" y="333561"/>
              <a:ext cx="28725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chemeClr val="accent1">
                      <a:lumMod val="50000"/>
                    </a:schemeClr>
                  </a:solidFill>
                  <a:latin typeface="Candara" panose="020E0502030303020204" pitchFamily="34" charset="0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25852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33B85-FFFB-E9AD-4922-7F5E28D55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F92DF-7C3E-AECC-563A-5B343730F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andara" panose="020E0502030303020204" pitchFamily="34" charset="0"/>
              </a:rPr>
              <a:t>Data Pre-processing and Modeling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FB68BB-3EC9-64AE-8CB8-DE74C728BB2C}"/>
              </a:ext>
            </a:extLst>
          </p:cNvPr>
          <p:cNvSpPr txBox="1"/>
          <p:nvPr/>
        </p:nvSpPr>
        <p:spPr>
          <a:xfrm>
            <a:off x="838200" y="1690688"/>
            <a:ext cx="1081422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ndara" panose="020E0502030303020204" pitchFamily="34" charset="0"/>
              </a:rPr>
              <a:t>Subset of </a:t>
            </a:r>
            <a:r>
              <a:rPr lang="en-US" dirty="0" err="1">
                <a:latin typeface="Candara" panose="020E0502030303020204" pitchFamily="34" charset="0"/>
              </a:rPr>
              <a:t>PKLot</a:t>
            </a:r>
            <a:r>
              <a:rPr lang="en-US" dirty="0">
                <a:latin typeface="Candara" panose="020E0502030303020204" pitchFamily="34" charset="0"/>
              </a:rPr>
              <a:t>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ndara" panose="020E0502030303020204" pitchFamily="34" charset="0"/>
              </a:rPr>
              <a:t>Manual Label creation using </a:t>
            </a:r>
            <a:r>
              <a:rPr lang="en-US" dirty="0" err="1">
                <a:latin typeface="Candara" panose="020E0502030303020204" pitchFamily="34" charset="0"/>
              </a:rPr>
              <a:t>Roboflow</a:t>
            </a:r>
            <a:endParaRPr lang="en-US" dirty="0">
              <a:latin typeface="Candara" panose="020E05020303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ndara" panose="020E0502030303020204" pitchFamily="34" charset="0"/>
              </a:rPr>
              <a:t>Bounding box created for compact cars, sedans, SUV and Pick-up truck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ndara" panose="020E0502030303020204" pitchFamily="34" charset="0"/>
              </a:rPr>
              <a:t>For an empty parking space and the distance between adjacent bounding boxes leaving an offset of 6 pixels is calculated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ndara" panose="020E0502030303020204" pitchFamily="34" charset="0"/>
              </a:rPr>
              <a:t>Fit the largest size bounding box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ndara" panose="020E0502030303020204" pitchFamily="34" charset="0"/>
              </a:rPr>
              <a:t>Trained using YoloV5, YoloV8 and YoloV10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8837C40-F5B4-BDF4-985B-B4295E912C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8779763"/>
              </p:ext>
            </p:extLst>
          </p:nvPr>
        </p:nvGraphicFramePr>
        <p:xfrm>
          <a:off x="885591" y="4266544"/>
          <a:ext cx="403722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2947">
                  <a:extLst>
                    <a:ext uri="{9D8B030D-6E8A-4147-A177-3AD203B41FA5}">
                      <a16:colId xmlns:a16="http://schemas.microsoft.com/office/drawing/2014/main" val="1736961236"/>
                    </a:ext>
                  </a:extLst>
                </a:gridCol>
                <a:gridCol w="2434281">
                  <a:extLst>
                    <a:ext uri="{9D8B030D-6E8A-4147-A177-3AD203B41FA5}">
                      <a16:colId xmlns:a16="http://schemas.microsoft.com/office/drawing/2014/main" val="19606687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ndara" panose="020E0502030303020204" pitchFamily="34" charset="0"/>
                        </a:rPr>
                        <a:t>Vehicle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ndara" panose="020E0502030303020204" pitchFamily="34" charset="0"/>
                        </a:rPr>
                        <a:t>Dimensions (w * 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2339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Candara" panose="020E0502030303020204" pitchFamily="34" charset="0"/>
                        </a:rPr>
                        <a:t>Compact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ndara" panose="020E0502030303020204" pitchFamily="34" charset="0"/>
                        </a:rPr>
                        <a:t>40 * 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686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ndara" panose="020E0502030303020204" pitchFamily="34" charset="0"/>
                        </a:rPr>
                        <a:t>Sedan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ndara" panose="020E0502030303020204" pitchFamily="34" charset="0"/>
                        </a:rPr>
                        <a:t>41 * 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4033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  <a:latin typeface="Candara" panose="020E0502030303020204" pitchFamily="34" charset="0"/>
                        </a:rPr>
                        <a:t>SUV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ndara" panose="020E0502030303020204" pitchFamily="34" charset="0"/>
                        </a:rPr>
                        <a:t>44 * 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0332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  <a:latin typeface="Candara" panose="020E0502030303020204" pitchFamily="34" charset="0"/>
                        </a:rPr>
                        <a:t>Pick-Up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ndara" panose="020E0502030303020204" pitchFamily="34" charset="0"/>
                        </a:rPr>
                        <a:t>45 * 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8361025"/>
                  </a:ext>
                </a:extLst>
              </a:tr>
            </a:tbl>
          </a:graphicData>
        </a:graphic>
      </p:graphicFrame>
      <p:pic>
        <p:nvPicPr>
          <p:cNvPr id="6" name="Picture 5" descr="A parking lot full of cars&#10;&#10;Description automatically generated">
            <a:extLst>
              <a:ext uri="{FF2B5EF4-FFF2-40B4-BE49-F238E27FC236}">
                <a16:creationId xmlns:a16="http://schemas.microsoft.com/office/drawing/2014/main" id="{440BE678-055E-BEFC-C572-09A9FBCA3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2940" y="3726311"/>
            <a:ext cx="3037703" cy="30377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E1BB42-EF0C-A6F0-211F-7874FF7187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012268" y="3726310"/>
            <a:ext cx="2874932" cy="3037703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8B51477F-66A1-5918-674A-CA38F70E83CF}"/>
              </a:ext>
            </a:extLst>
          </p:cNvPr>
          <p:cNvSpPr/>
          <p:nvPr/>
        </p:nvSpPr>
        <p:spPr>
          <a:xfrm>
            <a:off x="6483182" y="4806779"/>
            <a:ext cx="1620000" cy="162000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ndara" panose="020E0502030303020204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1D9FBBD-821F-E462-4878-7D2DBB9451CB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7293182" y="3726310"/>
            <a:ext cx="1656902" cy="1080469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8CF89A7-1DAC-9109-00F3-8224D07A2896}"/>
              </a:ext>
            </a:extLst>
          </p:cNvPr>
          <p:cNvCxnSpPr>
            <a:cxnSpLocks/>
            <a:stCxn id="10" idx="4"/>
          </p:cNvCxnSpPr>
          <p:nvPr/>
        </p:nvCxnSpPr>
        <p:spPr>
          <a:xfrm>
            <a:off x="7293182" y="6426779"/>
            <a:ext cx="1656902" cy="337234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643446B-64F1-A0B4-041F-DFC168C209F3}"/>
              </a:ext>
            </a:extLst>
          </p:cNvPr>
          <p:cNvGrpSpPr/>
          <p:nvPr/>
        </p:nvGrpSpPr>
        <p:grpSpPr>
          <a:xfrm>
            <a:off x="11143735" y="341046"/>
            <a:ext cx="681681" cy="721635"/>
            <a:chOff x="11143735" y="333561"/>
            <a:chExt cx="914400" cy="945964"/>
          </a:xfrm>
        </p:grpSpPr>
        <p:pic>
          <p:nvPicPr>
            <p:cNvPr id="24" name="Graphic 23" descr="Trophy with solid fill">
              <a:extLst>
                <a:ext uri="{FF2B5EF4-FFF2-40B4-BE49-F238E27FC236}">
                  <a16:creationId xmlns:a16="http://schemas.microsoft.com/office/drawing/2014/main" id="{37673498-FB7E-396F-2B09-77E60B2E71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143735" y="365125"/>
              <a:ext cx="914400" cy="9144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0134E91-333A-5947-5C19-ADDBE5972B70}"/>
                </a:ext>
              </a:extLst>
            </p:cNvPr>
            <p:cNvSpPr txBox="1"/>
            <p:nvPr/>
          </p:nvSpPr>
          <p:spPr>
            <a:xfrm>
              <a:off x="11391004" y="333561"/>
              <a:ext cx="445532" cy="6051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chemeClr val="accent1">
                      <a:lumMod val="50000"/>
                    </a:schemeClr>
                  </a:solidFill>
                  <a:latin typeface="Candara" panose="020E0502030303020204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7285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0D438-A457-5BB6-4519-EF814C4E3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82F04-3004-7875-9E56-C42792154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andara" panose="020E0502030303020204" pitchFamily="34" charset="0"/>
              </a:rPr>
              <a:t>Model Performance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D2B88EB-7336-4117-CBF9-17D91BF524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598415"/>
              </p:ext>
            </p:extLst>
          </p:nvPr>
        </p:nvGraphicFramePr>
        <p:xfrm>
          <a:off x="838200" y="2233906"/>
          <a:ext cx="668500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752">
                  <a:extLst>
                    <a:ext uri="{9D8B030D-6E8A-4147-A177-3AD203B41FA5}">
                      <a16:colId xmlns:a16="http://schemas.microsoft.com/office/drawing/2014/main" val="3972334047"/>
                    </a:ext>
                  </a:extLst>
                </a:gridCol>
                <a:gridCol w="3954162">
                  <a:extLst>
                    <a:ext uri="{9D8B030D-6E8A-4147-A177-3AD203B41FA5}">
                      <a16:colId xmlns:a16="http://schemas.microsoft.com/office/drawing/2014/main" val="3717799960"/>
                    </a:ext>
                  </a:extLst>
                </a:gridCol>
                <a:gridCol w="1631092">
                  <a:extLst>
                    <a:ext uri="{9D8B030D-6E8A-4147-A177-3AD203B41FA5}">
                      <a16:colId xmlns:a16="http://schemas.microsoft.com/office/drawing/2014/main" val="13741431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ndara" panose="020E0502030303020204" pitchFamily="34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ndara" panose="020E0502030303020204" pitchFamily="34" charset="0"/>
                        </a:rPr>
                        <a:t>Attributes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ndara" panose="020E0502030303020204" pitchFamily="34" charset="0"/>
                        </a:rPr>
                        <a:t>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064525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ndara" panose="020E0502030303020204" pitchFamily="34" charset="0"/>
                        </a:rPr>
                        <a:t>YoloV5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ndara" panose="020E0502030303020204" pitchFamily="34" charset="0"/>
                        </a:rPr>
                        <a:t>Epochs: 40; Learning rate: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ndara" panose="020E0502030303020204" pitchFamily="34" charset="0"/>
                        </a:rPr>
                        <a:t>36%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67128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ndara" panose="020E0502030303020204" pitchFamily="34" charset="0"/>
                        </a:rPr>
                        <a:t>Epochs: 80; Learning rate: 0.005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ndara" panose="020E0502030303020204" pitchFamily="34" charset="0"/>
                        </a:rPr>
                        <a:t>54%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192593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ndara" panose="020E0502030303020204" pitchFamily="34" charset="0"/>
                        </a:rPr>
                        <a:t>YoloV8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ndara" panose="020E0502030303020204" pitchFamily="34" charset="0"/>
                        </a:rPr>
                        <a:t>Epochs: 40; Learning rate: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ndara" panose="020E0502030303020204" pitchFamily="34" charset="0"/>
                        </a:rPr>
                        <a:t>49%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8785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ndara" panose="020E0502030303020204" pitchFamily="34" charset="0"/>
                        </a:rPr>
                        <a:t>Epochs: 80; Learning rate: 0.005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ndara" panose="020E0502030303020204" pitchFamily="34" charset="0"/>
                        </a:rPr>
                        <a:t>61%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3491086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ndara" panose="020E0502030303020204" pitchFamily="34" charset="0"/>
                        </a:rPr>
                        <a:t>YoloV10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ndara" panose="020E0502030303020204" pitchFamily="34" charset="0"/>
                        </a:rPr>
                        <a:t>Epochs: 40; Learning rate: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ndara" panose="020E0502030303020204" pitchFamily="34" charset="0"/>
                        </a:rPr>
                        <a:t>51%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43947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ndara" panose="020E0502030303020204" pitchFamily="34" charset="0"/>
                        </a:rPr>
                        <a:t>Epochs: 80; Learning rate: 0.005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ndara" panose="020E0502030303020204" pitchFamily="34" charset="0"/>
                        </a:rPr>
                        <a:t>58%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2706780"/>
                  </a:ext>
                </a:extLst>
              </a:tr>
            </a:tbl>
          </a:graphicData>
        </a:graphic>
      </p:graphicFrame>
      <p:pic>
        <p:nvPicPr>
          <p:cNvPr id="5" name="Graphic 4" descr="Medal with solid fill">
            <a:extLst>
              <a:ext uri="{FF2B5EF4-FFF2-40B4-BE49-F238E27FC236}">
                <a16:creationId xmlns:a16="http://schemas.microsoft.com/office/drawing/2014/main" id="{88D0CCF3-9969-9419-58C3-8846386B40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79459" y="2971800"/>
            <a:ext cx="914400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87508D-3BE8-2329-CBEA-8317EDA236B4}"/>
              </a:ext>
            </a:extLst>
          </p:cNvPr>
          <p:cNvSpPr txBox="1"/>
          <p:nvPr/>
        </p:nvSpPr>
        <p:spPr>
          <a:xfrm>
            <a:off x="9679459" y="3930193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ndara" panose="020E0502030303020204" pitchFamily="34" charset="0"/>
              </a:rPr>
              <a:t>YoloV8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ABD3214-E792-4492-2059-36B5FB42622A}"/>
              </a:ext>
            </a:extLst>
          </p:cNvPr>
          <p:cNvGrpSpPr/>
          <p:nvPr/>
        </p:nvGrpSpPr>
        <p:grpSpPr>
          <a:xfrm>
            <a:off x="11143735" y="341046"/>
            <a:ext cx="681681" cy="721635"/>
            <a:chOff x="11143735" y="333561"/>
            <a:chExt cx="914400" cy="945964"/>
          </a:xfrm>
        </p:grpSpPr>
        <p:pic>
          <p:nvPicPr>
            <p:cNvPr id="11" name="Graphic 10" descr="Trophy with solid fill">
              <a:extLst>
                <a:ext uri="{FF2B5EF4-FFF2-40B4-BE49-F238E27FC236}">
                  <a16:creationId xmlns:a16="http://schemas.microsoft.com/office/drawing/2014/main" id="{5553975F-33B3-E83C-8A72-F6B284025C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143735" y="365125"/>
              <a:ext cx="914400" cy="9144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93F23AB-AA9C-1499-EA42-80A2B57F3E49}"/>
                </a:ext>
              </a:extLst>
            </p:cNvPr>
            <p:cNvSpPr txBox="1"/>
            <p:nvPr/>
          </p:nvSpPr>
          <p:spPr>
            <a:xfrm>
              <a:off x="11391004" y="333561"/>
              <a:ext cx="445532" cy="6051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chemeClr val="accent1">
                      <a:lumMod val="50000"/>
                    </a:schemeClr>
                  </a:solidFill>
                  <a:latin typeface="Candara" panose="020E0502030303020204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34371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89357-8689-4E67-3EF8-1C4C8549F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ndara" panose="020E0502030303020204" pitchFamily="34" charset="0"/>
              </a:rPr>
              <a:t>Challenges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B8BC05-2CA6-4ACA-CE61-4EEBC1CA6385}"/>
              </a:ext>
            </a:extLst>
          </p:cNvPr>
          <p:cNvSpPr txBox="1"/>
          <p:nvPr/>
        </p:nvSpPr>
        <p:spPr>
          <a:xfrm>
            <a:off x="920717" y="1690688"/>
            <a:ext cx="4358886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ndara" panose="020E0502030303020204" pitchFamily="34" charset="0"/>
              </a:rPr>
              <a:t>Unclear Images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ndara" panose="020E0502030303020204" pitchFamily="34" charset="0"/>
              </a:rPr>
              <a:t>Impacts accuracy and predictability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ndara" panose="020E0502030303020204" pitchFamily="34" charset="0"/>
              </a:rPr>
              <a:t>Shadow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ndara" panose="020E0502030303020204" pitchFamily="34" charset="0"/>
              </a:rPr>
              <a:t>Reflection and Glare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Candara" panose="020E0502030303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Candara" panose="020E0502030303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Candara" panose="020E0502030303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Candara" panose="020E05020303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ndara" panose="020E0502030303020204" pitchFamily="34" charset="0"/>
              </a:rPr>
              <a:t>Weather  Conditions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ndara" panose="020E0502030303020204" pitchFamily="34" charset="0"/>
              </a:rPr>
              <a:t>Low light conditions - cloudy days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Candara" panose="020E0502030303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Candara" panose="020E0502030303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Candara" panose="020E0502030303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Candara" panose="020E05020303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ndara" panose="020E0502030303020204" pitchFamily="34" charset="0"/>
              </a:rPr>
              <a:t>Labelling of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D59F1E-71D9-1DCF-1592-3CAEFB2AEB36}"/>
              </a:ext>
            </a:extLst>
          </p:cNvPr>
          <p:cNvSpPr txBox="1"/>
          <p:nvPr/>
        </p:nvSpPr>
        <p:spPr>
          <a:xfrm>
            <a:off x="9848331" y="6492875"/>
            <a:ext cx="19335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andara" panose="020E0502030303020204" pitchFamily="34" charset="0"/>
              </a:rPr>
              <a:t>Icons used from </a:t>
            </a:r>
            <a:r>
              <a:rPr lang="en-US" sz="1100" dirty="0" err="1">
                <a:latin typeface="Candara" panose="020E0502030303020204" pitchFamily="34" charset="0"/>
              </a:rPr>
              <a:t>Flaticon.com</a:t>
            </a:r>
            <a:endParaRPr lang="en-US" sz="1100" dirty="0">
              <a:latin typeface="Candara" panose="020E0502030303020204" pitchFamily="34" charset="0"/>
            </a:endParaRPr>
          </a:p>
        </p:txBody>
      </p:sp>
      <p:pic>
        <p:nvPicPr>
          <p:cNvPr id="8" name="Picture 7" descr="A black and white circular object&#10;&#10;Description automatically generated">
            <a:extLst>
              <a:ext uri="{FF2B5EF4-FFF2-40B4-BE49-F238E27FC236}">
                <a16:creationId xmlns:a16="http://schemas.microsoft.com/office/drawing/2014/main" id="{92A9AAA4-C9D0-9CC9-35F5-59A2816D8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556" y="3065679"/>
            <a:ext cx="609600" cy="609600"/>
          </a:xfrm>
          <a:prstGeom prst="rect">
            <a:avLst/>
          </a:prstGeom>
        </p:spPr>
      </p:pic>
      <p:pic>
        <p:nvPicPr>
          <p:cNvPr id="12" name="Picture 1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4495FD1-C44C-015A-AEFE-FD85FB8A4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1846" y="2997473"/>
            <a:ext cx="669867" cy="669867"/>
          </a:xfrm>
          <a:prstGeom prst="rect">
            <a:avLst/>
          </a:prstGeom>
          <a:effectLst>
            <a:outerShdw blurRad="50800" dist="47718" sx="106000" sy="106000" algn="tl" rotWithShape="0">
              <a:prstClr val="black">
                <a:alpha val="75000"/>
              </a:prstClr>
            </a:outerShdw>
          </a:effectLst>
        </p:spPr>
      </p:pic>
      <p:pic>
        <p:nvPicPr>
          <p:cNvPr id="14" name="Picture 13" descr="A white circle with gray lines&#10;&#10;Description automatically generated">
            <a:extLst>
              <a:ext uri="{FF2B5EF4-FFF2-40B4-BE49-F238E27FC236}">
                <a16:creationId xmlns:a16="http://schemas.microsoft.com/office/drawing/2014/main" id="{E5043842-B512-125C-7A22-4334952344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2329" y="3065679"/>
            <a:ext cx="609600" cy="609600"/>
          </a:xfrm>
          <a:prstGeom prst="rect">
            <a:avLst/>
          </a:prstGeom>
        </p:spPr>
      </p:pic>
      <p:pic>
        <p:nvPicPr>
          <p:cNvPr id="16" name="Graphic 15" descr="Partial sun with solid fill">
            <a:extLst>
              <a:ext uri="{FF2B5EF4-FFF2-40B4-BE49-F238E27FC236}">
                <a16:creationId xmlns:a16="http://schemas.microsoft.com/office/drawing/2014/main" id="{0B2CE915-1DF3-0182-F073-85AE2D6CF7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89579" y="4507020"/>
            <a:ext cx="914400" cy="914400"/>
          </a:xfrm>
          <a:prstGeom prst="rect">
            <a:avLst/>
          </a:prstGeom>
        </p:spPr>
      </p:pic>
      <p:pic>
        <p:nvPicPr>
          <p:cNvPr id="18" name="Picture 17" descr="A parking lot with many cars&#10;&#10;Description automatically generated">
            <a:extLst>
              <a:ext uri="{FF2B5EF4-FFF2-40B4-BE49-F238E27FC236}">
                <a16:creationId xmlns:a16="http://schemas.microsoft.com/office/drawing/2014/main" id="{E35EB303-0206-17C2-830B-5A45648FAE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35404" y="3381264"/>
            <a:ext cx="1625854" cy="1392735"/>
          </a:xfrm>
          <a:prstGeom prst="roundRect">
            <a:avLst/>
          </a:prstGeom>
        </p:spPr>
      </p:pic>
      <p:pic>
        <p:nvPicPr>
          <p:cNvPr id="20" name="Picture 19" descr="A parking lot full of cars&#10;&#10;Description automatically generated">
            <a:extLst>
              <a:ext uri="{FF2B5EF4-FFF2-40B4-BE49-F238E27FC236}">
                <a16:creationId xmlns:a16="http://schemas.microsoft.com/office/drawing/2014/main" id="{717F2465-BEDE-D452-E0E9-B75B4035D59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8949" t="50745"/>
          <a:stretch/>
        </p:blipFill>
        <p:spPr>
          <a:xfrm>
            <a:off x="6893746" y="3383155"/>
            <a:ext cx="1721603" cy="1388952"/>
          </a:xfrm>
          <a:prstGeom prst="round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EDF6F7B-09D3-3F33-6FD3-CF315A8542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93745" y="4964221"/>
            <a:ext cx="1721603" cy="1504743"/>
          </a:xfrm>
          <a:prstGeom prst="roundRect">
            <a:avLst/>
          </a:prstGeom>
        </p:spPr>
      </p:pic>
      <p:pic>
        <p:nvPicPr>
          <p:cNvPr id="25" name="Picture 24" descr="A parking lot with cars parked&#10;&#10;Description automatically generated">
            <a:extLst>
              <a:ext uri="{FF2B5EF4-FFF2-40B4-BE49-F238E27FC236}">
                <a16:creationId xmlns:a16="http://schemas.microsoft.com/office/drawing/2014/main" id="{D389632B-2E17-A5C9-1FF4-5578ABF4A51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5769"/>
          <a:stretch/>
        </p:blipFill>
        <p:spPr>
          <a:xfrm>
            <a:off x="9035404" y="4964220"/>
            <a:ext cx="1625854" cy="1504743"/>
          </a:xfrm>
          <a:prstGeom prst="round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F19F122-E5CB-DF07-3EAA-24E03B96E21F}"/>
              </a:ext>
            </a:extLst>
          </p:cNvPr>
          <p:cNvSpPr txBox="1"/>
          <p:nvPr/>
        </p:nvSpPr>
        <p:spPr>
          <a:xfrm>
            <a:off x="6609541" y="1676144"/>
            <a:ext cx="457208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ndara" panose="020E0502030303020204" pitchFamily="34" charset="0"/>
              </a:rPr>
              <a:t>Camera Angle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ndara" panose="020E0502030303020204" pitchFamily="34" charset="0"/>
              </a:rPr>
              <a:t>Angled view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ndara" panose="020E0502030303020204" pitchFamily="34" charset="0"/>
              </a:rPr>
              <a:t>Fisheye 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ndara" panose="020E0502030303020204" pitchFamily="34" charset="0"/>
              </a:rPr>
              <a:t>Obstruction to parking spots such as trees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ndara" panose="020E0502030303020204" pitchFamily="34" charset="0"/>
              </a:rPr>
              <a:t>Parking Orientation</a:t>
            </a:r>
          </a:p>
        </p:txBody>
      </p:sp>
    </p:spTree>
    <p:extLst>
      <p:ext uri="{BB962C8B-B14F-4D97-AF65-F5344CB8AC3E}">
        <p14:creationId xmlns:p14="http://schemas.microsoft.com/office/powerpoint/2010/main" val="11114959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99FD2-FEE3-A9CC-1601-50B250458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70B8BF-0B94-24D1-1830-830E21201821}"/>
              </a:ext>
            </a:extLst>
          </p:cNvPr>
          <p:cNvSpPr txBox="1"/>
          <p:nvPr/>
        </p:nvSpPr>
        <p:spPr>
          <a:xfrm>
            <a:off x="467721" y="1635089"/>
            <a:ext cx="590627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ndara" panose="020E0502030303020204" pitchFamily="34" charset="0"/>
              </a:rPr>
              <a:t>Model hyperparameter tuning for improved 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ndara" panose="020E05020303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ndara" panose="020E05020303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ndara" panose="020E05020303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ndara" panose="020E05020303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ndara" panose="020E0502030303020204" pitchFamily="34" charset="0"/>
              </a:rPr>
              <a:t>Parking Direction System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ndara" panose="020E0502030303020204" pitchFamily="34" charset="0"/>
              </a:rPr>
              <a:t>Build an application to identify and direct users to empty parking spaces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Candara" panose="020E0502030303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Candara" panose="020E0502030303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Candara" panose="020E0502030303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Candara" panose="020E05020303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ndara" panose="020E0502030303020204" pitchFamily="34" charset="0"/>
              </a:rPr>
              <a:t>Parking Spot Prediction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ndara" panose="020E0502030303020204" pitchFamily="34" charset="0"/>
              </a:rPr>
              <a:t>Predict potential parking space using historical data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43C1F4-0E3F-1074-857C-73C137A6A421}"/>
              </a:ext>
            </a:extLst>
          </p:cNvPr>
          <p:cNvSpPr txBox="1"/>
          <p:nvPr/>
        </p:nvSpPr>
        <p:spPr>
          <a:xfrm>
            <a:off x="6660658" y="1662249"/>
            <a:ext cx="532539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ndara" panose="020E0502030303020204" pitchFamily="34" charset="0"/>
              </a:rPr>
              <a:t>Auto bounding box size and orientation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ndara" panose="020E05020303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ndara" panose="020E05020303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ndara" panose="020E05020303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ndara" panose="020E05020303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ndara" panose="020E05020303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ndara" panose="020E0502030303020204" pitchFamily="34" charset="0"/>
              </a:rPr>
              <a:t>Covered parking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ndara" panose="020E0502030303020204" pitchFamily="34" charset="0"/>
              </a:rPr>
              <a:t>Indoor parking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ndara" panose="020E0502030303020204" pitchFamily="34" charset="0"/>
              </a:rPr>
              <a:t>Multi level parking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D1C806-45A1-67C4-77BA-51FCBD75C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ndara" panose="020E0502030303020204" pitchFamily="34" charset="0"/>
              </a:rPr>
              <a:t>Future Work</a:t>
            </a:r>
          </a:p>
        </p:txBody>
      </p:sp>
      <p:pic>
        <p:nvPicPr>
          <p:cNvPr id="5" name="Graphic 4" descr="Upward trend with solid fill">
            <a:extLst>
              <a:ext uri="{FF2B5EF4-FFF2-40B4-BE49-F238E27FC236}">
                <a16:creationId xmlns:a16="http://schemas.microsoft.com/office/drawing/2014/main" id="{3519A612-3873-D168-FC52-E2D0E70FA5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41401" y="2017667"/>
            <a:ext cx="914400" cy="914400"/>
          </a:xfrm>
          <a:prstGeom prst="rect">
            <a:avLst/>
          </a:prstGeom>
        </p:spPr>
      </p:pic>
      <p:pic>
        <p:nvPicPr>
          <p:cNvPr id="7" name="Picture 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72870AF-A4CC-1333-4DF3-4E376B87BD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7601" y="4093787"/>
            <a:ext cx="762000" cy="762000"/>
          </a:xfrm>
          <a:prstGeom prst="rect">
            <a:avLst/>
          </a:prstGeom>
        </p:spPr>
      </p:pic>
      <p:pic>
        <p:nvPicPr>
          <p:cNvPr id="9" name="Picture 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30BCE0A-9355-3E73-F26B-0DB9915411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8557" y="5792787"/>
            <a:ext cx="700088" cy="700088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22110E2F-87FA-EBE9-EC12-D808B92401BF}"/>
              </a:ext>
            </a:extLst>
          </p:cNvPr>
          <p:cNvGrpSpPr/>
          <p:nvPr/>
        </p:nvGrpSpPr>
        <p:grpSpPr>
          <a:xfrm>
            <a:off x="9001298" y="2284256"/>
            <a:ext cx="580464" cy="825876"/>
            <a:chOff x="2593040" y="3876549"/>
            <a:chExt cx="580464" cy="8258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47AD5BE-DC62-642B-F324-54E5B66B5529}"/>
                </a:ext>
              </a:extLst>
            </p:cNvPr>
            <p:cNvSpPr/>
            <p:nvPr/>
          </p:nvSpPr>
          <p:spPr>
            <a:xfrm>
              <a:off x="2772335" y="3917770"/>
              <a:ext cx="358588" cy="6463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D092A48-CAC2-0E59-9E0B-8B5B8DB211B7}"/>
                </a:ext>
              </a:extLst>
            </p:cNvPr>
            <p:cNvSpPr/>
            <p:nvPr/>
          </p:nvSpPr>
          <p:spPr>
            <a:xfrm>
              <a:off x="2879910" y="4070170"/>
              <a:ext cx="293594" cy="38528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0EAD1AC-F70C-B5B1-AD73-6DCFE3250D74}"/>
                </a:ext>
              </a:extLst>
            </p:cNvPr>
            <p:cNvSpPr/>
            <p:nvPr/>
          </p:nvSpPr>
          <p:spPr>
            <a:xfrm>
              <a:off x="2679326" y="4317136"/>
              <a:ext cx="293594" cy="385289"/>
            </a:xfrm>
            <a:prstGeom prst="rect">
              <a:avLst/>
            </a:prstGeom>
            <a:no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F99EF53-4634-8061-805D-7296FCA125B5}"/>
                </a:ext>
              </a:extLst>
            </p:cNvPr>
            <p:cNvSpPr/>
            <p:nvPr/>
          </p:nvSpPr>
          <p:spPr>
            <a:xfrm rot="20435092">
              <a:off x="2593040" y="3876549"/>
              <a:ext cx="358588" cy="646331"/>
            </a:xfrm>
            <a:prstGeom prst="rect">
              <a:avLst/>
            </a:prstGeom>
            <a:noFill/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A parking garage with several cars&#10;&#10;Description automatically generated">
            <a:extLst>
              <a:ext uri="{FF2B5EF4-FFF2-40B4-BE49-F238E27FC236}">
                <a16:creationId xmlns:a16="http://schemas.microsoft.com/office/drawing/2014/main" id="{682A75C5-18F7-A1B4-D3A1-34837E0F8D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6537" y="4509367"/>
            <a:ext cx="3103262" cy="1823518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184300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941</TotalTime>
  <Words>729</Words>
  <Application>Microsoft Macintosh PowerPoint</Application>
  <PresentationFormat>Widescreen</PresentationFormat>
  <Paragraphs>185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Candara</vt:lpstr>
      <vt:lpstr>Office Theme</vt:lpstr>
      <vt:lpstr>Parking Space Detection and Classification using Machine Learning</vt:lpstr>
      <vt:lpstr>PowerPoint Presentation</vt:lpstr>
      <vt:lpstr>Objective and Dataset</vt:lpstr>
      <vt:lpstr>Model 1 - CNN</vt:lpstr>
      <vt:lpstr>Model 1 - CNN</vt:lpstr>
      <vt:lpstr>Model 1 - CNN</vt:lpstr>
      <vt:lpstr>Model 1 - CNN</vt:lpstr>
      <vt:lpstr>Model 1 - CNN</vt:lpstr>
      <vt:lpstr>Model 1 - CNN</vt:lpstr>
      <vt:lpstr>Model 2 – YoloV8</vt:lpstr>
      <vt:lpstr>Model Performance</vt:lpstr>
      <vt:lpstr>Data Pre-processing and Modeling</vt:lpstr>
      <vt:lpstr>Model Performance</vt:lpstr>
      <vt:lpstr>Challenges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Jeevan Shankar Balagam</dc:creator>
  <cp:lastModifiedBy>Jeevan Shankar Balagam</cp:lastModifiedBy>
  <cp:revision>6</cp:revision>
  <dcterms:created xsi:type="dcterms:W3CDTF">2024-11-19T02:55:05Z</dcterms:created>
  <dcterms:modified xsi:type="dcterms:W3CDTF">2024-11-19T18:36:06Z</dcterms:modified>
</cp:coreProperties>
</file>